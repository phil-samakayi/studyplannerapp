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4732020"/>
            <a:ext cx="9144000" cy="411480"/>
          </a:xfrm>
          <a:prstGeom prst="rect">
            <a:avLst/>
          </a:prstGeom>
          <a:solidFill>
            <a:srgbClr val="3A86FF"/>
          </a:solidFill>
          <a:ln w="12700">
            <a:solidFill>
              <a:srgbClr val="3A86FF"/>
            </a:solidFill>
            <a:prstDash val="solid"/>
          </a:ln>
        </p:spPr>
      </p:sp>
      <p:sp>
        <p:nvSpPr>
          <p:cNvPr id="3" name="Shape 1"/>
          <p:cNvSpPr/>
          <p:nvPr/>
        </p:nvSpPr>
        <p:spPr>
          <a:xfrm>
            <a:off x="0" y="0"/>
            <a:ext cx="164592" cy="5143500"/>
          </a:xfrm>
          <a:prstGeom prst="rect">
            <a:avLst/>
          </a:prstGeom>
          <a:solidFill>
            <a:srgbClr val="3A86FF"/>
          </a:solidFill>
          <a:ln w="12700">
            <a:solidFill>
              <a:srgbClr val="3A86FF"/>
            </a:solidFill>
            <a:prstDash val="solid"/>
          </a:ln>
        </p:spPr>
      </p:sp>
      <p:sp>
        <p:nvSpPr>
          <p:cNvPr id="4" name="Text 2"/>
          <p:cNvSpPr/>
          <p:nvPr/>
        </p:nvSpPr>
        <p:spPr>
          <a:xfrm>
            <a:off x="457200" y="365760"/>
            <a:ext cx="8229600" cy="320040"/>
          </a:xfrm>
          <a:prstGeom prst="rect">
            <a:avLst/>
          </a:prstGeom>
          <a:noFill/>
          <a:ln/>
        </p:spPr>
        <p:txBody>
          <a:bodyPr wrap="square" rtlCol="0" anchor="ctr"/>
          <a:lstStyle/>
          <a:p>
            <a:pPr algn="ctr" indent="0" marL="0">
              <a:buNone/>
            </a:pPr>
            <a:r>
              <a:rPr lang="en-US" sz="1100" b="1" spc="300" kern="0" dirty="0">
                <a:solidFill>
                  <a:srgbClr val="CADCFC"/>
                </a:solidFill>
                <a:latin typeface="Calibri" pitchFamily="34" charset="0"/>
                <a:ea typeface="Calibri" pitchFamily="34" charset="-122"/>
                <a:cs typeface="Calibri" pitchFamily="34" charset="-120"/>
              </a:rPr>
              <a:t>THE UNIVERSITY OF ZAMBIA</a:t>
            </a:r>
            <a:endParaRPr lang="en-US" sz="1100" dirty="0"/>
          </a:p>
        </p:txBody>
      </p:sp>
      <p:sp>
        <p:nvSpPr>
          <p:cNvPr id="5" name="Text 3"/>
          <p:cNvSpPr/>
          <p:nvPr/>
        </p:nvSpPr>
        <p:spPr>
          <a:xfrm>
            <a:off x="457200" y="685800"/>
            <a:ext cx="8229600" cy="274320"/>
          </a:xfrm>
          <a:prstGeom prst="rect">
            <a:avLst/>
          </a:prstGeom>
          <a:noFill/>
          <a:ln/>
        </p:spPr>
        <p:txBody>
          <a:bodyPr wrap="square" rtlCol="0" anchor="ctr"/>
          <a:lstStyle/>
          <a:p>
            <a:pPr algn="ctr" indent="0" marL="0">
              <a:buNone/>
            </a:pPr>
            <a:r>
              <a:rPr lang="en-US" sz="1000" dirty="0">
                <a:solidFill>
                  <a:srgbClr val="8FA8D8"/>
                </a:solidFill>
                <a:latin typeface="Calibri" pitchFamily="34" charset="0"/>
                <a:ea typeface="Calibri" pitchFamily="34" charset="-122"/>
                <a:cs typeface="Calibri" pitchFamily="34" charset="-120"/>
              </a:rPr>
              <a:t>School of Natural &amp; Applied Sciences  ·  Dept. of Computing and Informatics</a:t>
            </a:r>
            <a:endParaRPr lang="en-US" sz="1000" dirty="0"/>
          </a:p>
        </p:txBody>
      </p:sp>
      <p:sp>
        <p:nvSpPr>
          <p:cNvPr id="6" name="Shape 4"/>
          <p:cNvSpPr/>
          <p:nvPr/>
        </p:nvSpPr>
        <p:spPr>
          <a:xfrm>
            <a:off x="457200" y="1143000"/>
            <a:ext cx="8229600" cy="1463040"/>
          </a:xfrm>
          <a:prstGeom prst="rect">
            <a:avLst/>
          </a:prstGeom>
          <a:solidFill>
            <a:srgbClr val="142050"/>
          </a:solidFill>
          <a:ln w="12700">
            <a:solidFill>
              <a:srgbClr val="3A86FF"/>
            </a:solidFill>
            <a:prstDash val="solid"/>
          </a:ln>
        </p:spPr>
      </p:sp>
      <p:sp>
        <p:nvSpPr>
          <p:cNvPr id="7" name="Text 5"/>
          <p:cNvSpPr/>
          <p:nvPr/>
        </p:nvSpPr>
        <p:spPr>
          <a:xfrm>
            <a:off x="457200" y="1188720"/>
            <a:ext cx="8229600" cy="6858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StudyPlannerApp</a:t>
            </a:r>
            <a:endParaRPr lang="en-US" sz="4000" dirty="0"/>
          </a:p>
        </p:txBody>
      </p:sp>
      <p:sp>
        <p:nvSpPr>
          <p:cNvPr id="8" name="Text 6"/>
          <p:cNvSpPr/>
          <p:nvPr/>
        </p:nvSpPr>
        <p:spPr>
          <a:xfrm>
            <a:off x="457200" y="1828800"/>
            <a:ext cx="8229600" cy="685800"/>
          </a:xfrm>
          <a:prstGeom prst="rect">
            <a:avLst/>
          </a:prstGeom>
          <a:noFill/>
          <a:ln/>
        </p:spPr>
        <p:txBody>
          <a:bodyPr wrap="square"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AI-Powered Group Study Matching for University Students</a:t>
            </a:r>
            <a:endParaRPr lang="en-US" sz="1600" dirty="0"/>
          </a:p>
        </p:txBody>
      </p:sp>
      <p:sp>
        <p:nvSpPr>
          <p:cNvPr id="9" name="Text 7"/>
          <p:cNvSpPr/>
          <p:nvPr/>
        </p:nvSpPr>
        <p:spPr>
          <a:xfrm>
            <a:off x="457200" y="2834640"/>
            <a:ext cx="8229600" cy="32004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Students: </a:t>
            </a:r>
            <a:pPr algn="ctr" indent="0" marL="0">
              <a:buNone/>
            </a:pPr>
            <a:r>
              <a:rPr lang="en-US" sz="1100" dirty="0">
                <a:solidFill>
                  <a:srgbClr val="A0B8D8"/>
                </a:solidFill>
                <a:latin typeface="Calibri" pitchFamily="34" charset="0"/>
                <a:ea typeface="Calibri" pitchFamily="34" charset="-122"/>
                <a:cs typeface="Calibri" pitchFamily="34" charset="-120"/>
              </a:rPr>
              <a:t>Phil Samakayi (2021439488)  ·  Blessing Yabe (2021417034)</a:t>
            </a:r>
            <a:endParaRPr lang="en-US" sz="1100" dirty="0"/>
          </a:p>
        </p:txBody>
      </p:sp>
      <p:sp>
        <p:nvSpPr>
          <p:cNvPr id="10" name="Text 8"/>
          <p:cNvSpPr/>
          <p:nvPr/>
        </p:nvSpPr>
        <p:spPr>
          <a:xfrm>
            <a:off x="457200" y="3154680"/>
            <a:ext cx="8229600" cy="32004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Supervisor: </a:t>
            </a:r>
            <a:pPr algn="ctr" indent="0" marL="0">
              <a:buNone/>
            </a:pPr>
            <a:r>
              <a:rPr lang="en-US" sz="1100" dirty="0">
                <a:solidFill>
                  <a:srgbClr val="A0B8D8"/>
                </a:solidFill>
                <a:latin typeface="Calibri" pitchFamily="34" charset="0"/>
                <a:ea typeface="Calibri" pitchFamily="34" charset="-122"/>
                <a:cs typeface="Calibri" pitchFamily="34" charset="-120"/>
              </a:rPr>
              <a:t>Mr. Martin Phiri</a:t>
            </a:r>
            <a:endParaRPr lang="en-US" sz="1100" dirty="0"/>
          </a:p>
        </p:txBody>
      </p:sp>
      <p:sp>
        <p:nvSpPr>
          <p:cNvPr id="11" name="Text 9"/>
          <p:cNvSpPr/>
          <p:nvPr/>
        </p:nvSpPr>
        <p:spPr>
          <a:xfrm>
            <a:off x="457200" y="3520440"/>
            <a:ext cx="8229600" cy="274320"/>
          </a:xfrm>
          <a:prstGeom prst="rect">
            <a:avLst/>
          </a:prstGeom>
          <a:noFill/>
          <a:ln/>
        </p:spPr>
        <p:txBody>
          <a:bodyPr wrap="square" rtlCol="0" anchor="ctr"/>
          <a:lstStyle/>
          <a:p>
            <a:pPr algn="ctr" indent="0" marL="0">
              <a:buNone/>
            </a:pPr>
            <a:r>
              <a:rPr lang="en-US" sz="1000" i="1" dirty="0">
                <a:solidFill>
                  <a:srgbClr val="7090B8"/>
                </a:solidFill>
                <a:latin typeface="Calibri" pitchFamily="34" charset="0"/>
                <a:ea typeface="Calibri" pitchFamily="34" charset="-122"/>
                <a:cs typeface="Calibri" pitchFamily="34" charset="-120"/>
              </a:rPr>
              <a:t>Academic Year 2026  ·  Final Year Project Proposal  ·  Submitted: 19 March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3E"/>
          </a:solidFill>
          <a:ln w="12700">
            <a:solidFill>
              <a:srgbClr val="0D1B3E"/>
            </a:solidFill>
            <a:prstDash val="solid"/>
          </a:ln>
        </p:spPr>
      </p:sp>
      <p:sp>
        <p:nvSpPr>
          <p:cNvPr id="3" name="Text 1"/>
          <p:cNvSpPr/>
          <p:nvPr/>
        </p:nvSpPr>
        <p:spPr>
          <a:xfrm>
            <a:off x="365760" y="0"/>
            <a:ext cx="8229600" cy="50292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INTRODUCTION</a:t>
            </a:r>
            <a:endParaRPr lang="en-US" sz="1300" dirty="0"/>
          </a:p>
        </p:txBody>
      </p:sp>
      <p:sp>
        <p:nvSpPr>
          <p:cNvPr id="4" name="Text 2"/>
          <p:cNvSpPr/>
          <p:nvPr/>
        </p:nvSpPr>
        <p:spPr>
          <a:xfrm>
            <a:off x="365760" y="566928"/>
            <a:ext cx="8412480" cy="347472"/>
          </a:xfrm>
          <a:prstGeom prst="rect">
            <a:avLst/>
          </a:prstGeom>
          <a:noFill/>
          <a:ln/>
        </p:spPr>
        <p:txBody>
          <a:bodyPr wrap="square" lIns="0" tIns="0" rIns="0" bIns="0"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Why does this project matter?</a:t>
            </a:r>
            <a:endParaRPr lang="en-US" sz="1100" dirty="0"/>
          </a:p>
        </p:txBody>
      </p:sp>
      <p:sp>
        <p:nvSpPr>
          <p:cNvPr id="5" name="Shape 3"/>
          <p:cNvSpPr/>
          <p:nvPr/>
        </p:nvSpPr>
        <p:spPr>
          <a:xfrm>
            <a:off x="274320" y="1005840"/>
            <a:ext cx="4069080" cy="3566160"/>
          </a:xfrm>
          <a:prstGeom prst="rect">
            <a:avLst/>
          </a:prstGeom>
          <a:solidFill>
            <a:srgbClr val="FFFFFF"/>
          </a:solidFill>
          <a:ln w="12700">
            <a:solidFill>
              <a:srgbClr val="E5E7EB"/>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74320" y="1005840"/>
            <a:ext cx="64008" cy="3566160"/>
          </a:xfrm>
          <a:prstGeom prst="rect">
            <a:avLst/>
          </a:prstGeom>
          <a:solidFill>
            <a:srgbClr val="3A86FF"/>
          </a:solidFill>
          <a:ln w="12700">
            <a:solidFill>
              <a:srgbClr val="3A86FF"/>
            </a:solidFill>
            <a:prstDash val="solid"/>
          </a:ln>
        </p:spPr>
      </p:sp>
      <p:sp>
        <p:nvSpPr>
          <p:cNvPr id="7" name="Text 5"/>
          <p:cNvSpPr/>
          <p:nvPr/>
        </p:nvSpPr>
        <p:spPr>
          <a:xfrm>
            <a:off x="502920" y="1097280"/>
            <a:ext cx="3657600" cy="365760"/>
          </a:xfrm>
          <a:prstGeom prst="rect">
            <a:avLst/>
          </a:prstGeom>
          <a:noFill/>
          <a:ln/>
        </p:spPr>
        <p:txBody>
          <a:bodyPr wrap="square"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The Challenge</a:t>
            </a:r>
            <a:endParaRPr lang="en-US" sz="1400" dirty="0"/>
          </a:p>
        </p:txBody>
      </p:sp>
      <p:sp>
        <p:nvSpPr>
          <p:cNvPr id="8" name="Text 6"/>
          <p:cNvSpPr/>
          <p:nvPr/>
        </p:nvSpPr>
        <p:spPr>
          <a:xfrm>
            <a:off x="502920" y="1554480"/>
            <a:ext cx="3657600" cy="2834640"/>
          </a:xfrm>
          <a:prstGeom prst="rect">
            <a:avLst/>
          </a:prstGeom>
          <a:noFill/>
          <a:ln/>
        </p:spPr>
        <p:txBody>
          <a:bodyPr wrap="square" rtlCol="0" anchor="t"/>
          <a:lstStyle/>
          <a:p>
            <a:pPr indent="0" marL="0">
              <a:buNone/>
            </a:pPr>
            <a:r>
              <a:rPr lang="en-US" sz="1150" dirty="0">
                <a:solidFill>
                  <a:srgbClr val="1A1A2E"/>
                </a:solidFill>
                <a:latin typeface="Calibri" pitchFamily="34" charset="0"/>
                <a:ea typeface="Calibri" pitchFamily="34" charset="-122"/>
                <a:cs typeface="Calibri" pitchFamily="34" charset="-120"/>
              </a:rPr>
              <a:t>University students face mounting academic pressure. Research shows effective time management is strongly associated with improved academic performance [1], yet two core problems persist:
</a:t>
            </a:r>
            <a:pPr indent="0" marL="0">
              <a:buNone/>
            </a:pPr>
            <a:r>
              <a:rPr lang="en-US" sz="1150" b="1" dirty="0">
                <a:solidFill>
                  <a:srgbClr val="3A86FF"/>
                </a:solidFill>
                <a:latin typeface="Calibri" pitchFamily="34" charset="0"/>
                <a:ea typeface="Calibri" pitchFamily="34" charset="-122"/>
                <a:cs typeface="Calibri" pitchFamily="34" charset="-120"/>
              </a:rPr>
              <a:t>Poor study planning </a:t>
            </a:r>
            <a:pPr indent="0" marL="0">
              <a:buNone/>
            </a:pPr>
            <a:r>
              <a:rPr lang="en-US" sz="1150" dirty="0">
                <a:solidFill>
                  <a:srgbClr val="1A1A2E"/>
                </a:solidFill>
                <a:latin typeface="Calibri" pitchFamily="34" charset="0"/>
                <a:ea typeface="Calibri" pitchFamily="34" charset="-122"/>
                <a:cs typeface="Calibri" pitchFamily="34" charset="-120"/>
              </a:rPr>
              <a:t>— students lack structured, personalised tools to plan and track study time.
</a:t>
            </a:r>
            <a:pPr indent="0" marL="0">
              <a:buNone/>
            </a:pPr>
            <a:r>
              <a:rPr lang="en-US" sz="1150" b="1" dirty="0">
                <a:solidFill>
                  <a:srgbClr val="3A86FF"/>
                </a:solidFill>
                <a:latin typeface="Calibri" pitchFamily="34" charset="0"/>
                <a:ea typeface="Calibri" pitchFamily="34" charset="-122"/>
                <a:cs typeface="Calibri" pitchFamily="34" charset="-120"/>
              </a:rPr>
              <a:t>Chance-based grouping </a:t>
            </a:r>
            <a:pPr indent="0" marL="0">
              <a:buNone/>
            </a:pPr>
            <a:r>
              <a:rPr lang="en-US" sz="1150" dirty="0">
                <a:solidFill>
                  <a:srgbClr val="1A1A2E"/>
                </a:solidFill>
                <a:latin typeface="Calibri" pitchFamily="34" charset="0"/>
                <a:ea typeface="Calibri" pitchFamily="34" charset="-122"/>
                <a:cs typeface="Calibri" pitchFamily="34" charset="-120"/>
              </a:rPr>
              <a:t>— group study partners are chosen by proximity or friendship, not academic compatibility.</a:t>
            </a:r>
            <a:endParaRPr lang="en-US" sz="1150" dirty="0"/>
          </a:p>
        </p:txBody>
      </p:sp>
      <p:sp>
        <p:nvSpPr>
          <p:cNvPr id="9" name="Shape 7"/>
          <p:cNvSpPr/>
          <p:nvPr/>
        </p:nvSpPr>
        <p:spPr>
          <a:xfrm>
            <a:off x="4663440" y="1005840"/>
            <a:ext cx="4160520" cy="3566160"/>
          </a:xfrm>
          <a:prstGeom prst="rect">
            <a:avLst/>
          </a:prstGeom>
          <a:solidFill>
            <a:srgbClr val="FFFFFF"/>
          </a:solidFill>
          <a:ln w="12700">
            <a:solidFill>
              <a:srgbClr val="E5E7EB"/>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4663440" y="1005840"/>
            <a:ext cx="64008" cy="3566160"/>
          </a:xfrm>
          <a:prstGeom prst="rect">
            <a:avLst/>
          </a:prstGeom>
          <a:solidFill>
            <a:srgbClr val="2D6A4F"/>
          </a:solidFill>
          <a:ln w="12700">
            <a:solidFill>
              <a:srgbClr val="2D6A4F"/>
            </a:solidFill>
            <a:prstDash val="solid"/>
          </a:ln>
        </p:spPr>
      </p:sp>
      <p:sp>
        <p:nvSpPr>
          <p:cNvPr id="11" name="Text 9"/>
          <p:cNvSpPr/>
          <p:nvPr/>
        </p:nvSpPr>
        <p:spPr>
          <a:xfrm>
            <a:off x="4892040" y="1097280"/>
            <a:ext cx="3749040" cy="365760"/>
          </a:xfrm>
          <a:prstGeom prst="rect">
            <a:avLst/>
          </a:prstGeom>
          <a:noFill/>
          <a:ln/>
        </p:spPr>
        <p:txBody>
          <a:bodyPr wrap="square"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The Opportunity</a:t>
            </a:r>
            <a:endParaRPr lang="en-US" sz="1400" dirty="0"/>
          </a:p>
        </p:txBody>
      </p:sp>
      <p:sp>
        <p:nvSpPr>
          <p:cNvPr id="12" name="Text 10"/>
          <p:cNvSpPr/>
          <p:nvPr/>
        </p:nvSpPr>
        <p:spPr>
          <a:xfrm>
            <a:off x="4892040" y="1554480"/>
            <a:ext cx="3749040" cy="2834640"/>
          </a:xfrm>
          <a:prstGeom prst="rect">
            <a:avLst/>
          </a:prstGeom>
          <a:noFill/>
          <a:ln/>
        </p:spPr>
        <p:txBody>
          <a:bodyPr wrap="square" rtlCol="0" anchor="t"/>
          <a:lstStyle/>
          <a:p>
            <a:pPr indent="0" marL="0">
              <a:buNone/>
            </a:pPr>
            <a:r>
              <a:rPr lang="en-US" sz="1150" dirty="0">
                <a:solidFill>
                  <a:srgbClr val="1A1A2E"/>
                </a:solidFill>
                <a:latin typeface="Calibri" pitchFamily="34" charset="0"/>
                <a:ea typeface="Calibri" pitchFamily="34" charset="-122"/>
                <a:cs typeface="Calibri" pitchFamily="34" charset="-120"/>
              </a:rPr>
              <a:t>Existing tools (Google Calendar, Notion, MyStudyLife) support scheduling but have no intelligent peer-matching mechanisms [2].
</a:t>
            </a:r>
            <a:pPr indent="0" marL="0">
              <a:buNone/>
            </a:pPr>
            <a:r>
              <a:rPr lang="en-US" sz="1150" b="1" dirty="0">
                <a:solidFill>
                  <a:srgbClr val="2D6A4F"/>
                </a:solidFill>
                <a:latin typeface="Calibri" pitchFamily="34" charset="0"/>
                <a:ea typeface="Calibri" pitchFamily="34" charset="-122"/>
                <a:cs typeface="Calibri" pitchFamily="34" charset="-120"/>
              </a:rPr>
              <a:t>StudyPlannerApp </a:t>
            </a:r>
            <a:pPr indent="0" marL="0">
              <a:buNone/>
            </a:pPr>
            <a:r>
              <a:rPr lang="en-US" sz="1150" dirty="0">
                <a:solidFill>
                  <a:srgbClr val="1A1A2E"/>
                </a:solidFill>
                <a:latin typeface="Calibri" pitchFamily="34" charset="0"/>
                <a:ea typeface="Calibri" pitchFamily="34" charset="-122"/>
                <a:cs typeface="Calibri" pitchFamily="34" charset="-120"/>
              </a:rPr>
              <a:t>combines study scheduling with an AI-based matching module that analyses student performance and subject preferences to recommend optimal GroupStudy sessions.
</a:t>
            </a:r>
            <a:pPr indent="0" marL="0">
              <a:buNone/>
            </a:pPr>
            <a:r>
              <a:rPr lang="en-US" sz="1150" b="1" dirty="0">
                <a:solidFill>
                  <a:srgbClr val="1A1A2E"/>
                </a:solidFill>
                <a:latin typeface="Calibri" pitchFamily="34" charset="0"/>
                <a:ea typeface="Calibri" pitchFamily="34" charset="-122"/>
                <a:cs typeface="Calibri" pitchFamily="34" charset="-120"/>
              </a:rPr>
              <a:t>Result: </a:t>
            </a:r>
            <a:pPr indent="0" marL="0">
              <a:buNone/>
            </a:pPr>
            <a:r>
              <a:rPr lang="en-US" sz="1150" dirty="0">
                <a:solidFill>
                  <a:srgbClr val="1A1A2E"/>
                </a:solidFill>
                <a:latin typeface="Calibri" pitchFamily="34" charset="0"/>
                <a:ea typeface="Calibri" pitchFamily="34" charset="-122"/>
                <a:cs typeface="Calibri" pitchFamily="34" charset="-120"/>
              </a:rPr>
              <a:t>Improved individual learning efficiency and collaborative learning outcomes.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3E"/>
          </a:solidFill>
          <a:ln w="12700">
            <a:solidFill>
              <a:srgbClr val="0D1B3E"/>
            </a:solidFill>
            <a:prstDash val="solid"/>
          </a:ln>
        </p:spPr>
      </p:sp>
      <p:sp>
        <p:nvSpPr>
          <p:cNvPr id="3" name="Text 1"/>
          <p:cNvSpPr/>
          <p:nvPr/>
        </p:nvSpPr>
        <p:spPr>
          <a:xfrm>
            <a:off x="365760" y="0"/>
            <a:ext cx="8229600" cy="50292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PROBLEM STATEMENT</a:t>
            </a:r>
            <a:endParaRPr lang="en-US" sz="1300" dirty="0"/>
          </a:p>
        </p:txBody>
      </p:sp>
      <p:sp>
        <p:nvSpPr>
          <p:cNvPr id="4" name="Text 2"/>
          <p:cNvSpPr/>
          <p:nvPr/>
        </p:nvSpPr>
        <p:spPr>
          <a:xfrm>
            <a:off x="365760" y="566928"/>
            <a:ext cx="8412480" cy="347472"/>
          </a:xfrm>
          <a:prstGeom prst="rect">
            <a:avLst/>
          </a:prstGeom>
          <a:noFill/>
          <a:ln/>
        </p:spPr>
        <p:txBody>
          <a:bodyPr wrap="square" lIns="0" tIns="0" rIns="0" bIns="0"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A precise, grounded statement of the core issue</a:t>
            </a:r>
            <a:endParaRPr lang="en-US" sz="1100" dirty="0"/>
          </a:p>
        </p:txBody>
      </p:sp>
      <p:sp>
        <p:nvSpPr>
          <p:cNvPr id="5" name="Shape 3"/>
          <p:cNvSpPr/>
          <p:nvPr/>
        </p:nvSpPr>
        <p:spPr>
          <a:xfrm>
            <a:off x="365760" y="914400"/>
            <a:ext cx="8412480" cy="1280160"/>
          </a:xfrm>
          <a:prstGeom prst="rect">
            <a:avLst/>
          </a:prstGeom>
          <a:solidFill>
            <a:srgbClr val="EEF2FF"/>
          </a:solidFill>
          <a:ln w="25400">
            <a:solidFill>
              <a:srgbClr val="3A86FF"/>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65760" y="914400"/>
            <a:ext cx="109728" cy="1280160"/>
          </a:xfrm>
          <a:prstGeom prst="rect">
            <a:avLst/>
          </a:prstGeom>
          <a:solidFill>
            <a:srgbClr val="3A86FF"/>
          </a:solidFill>
          <a:ln w="12700">
            <a:solidFill>
              <a:srgbClr val="3A86FF"/>
            </a:solidFill>
            <a:prstDash val="solid"/>
          </a:ln>
        </p:spPr>
      </p:sp>
      <p:sp>
        <p:nvSpPr>
          <p:cNvPr id="7" name="Text 5"/>
          <p:cNvSpPr/>
          <p:nvPr/>
        </p:nvSpPr>
        <p:spPr>
          <a:xfrm>
            <a:off x="640080" y="960120"/>
            <a:ext cx="7955280" cy="1188720"/>
          </a:xfrm>
          <a:prstGeom prst="rect">
            <a:avLst/>
          </a:prstGeom>
          <a:noFill/>
          <a:ln/>
        </p:spPr>
        <p:txBody>
          <a:bodyPr wrap="square" rtlCol="0" anchor="ctr"/>
          <a:lstStyle/>
          <a:p>
            <a:pPr indent="0" marL="0">
              <a:buNone/>
            </a:pPr>
            <a:r>
              <a:rPr lang="en-US" sz="1300" i="1" dirty="0">
                <a:solidFill>
                  <a:srgbClr val="1A1A2E"/>
                </a:solidFill>
                <a:latin typeface="Calibri" pitchFamily="34" charset="0"/>
                <a:ea typeface="Calibri" pitchFamily="34" charset="-122"/>
                <a:cs typeface="Calibri" pitchFamily="34" charset="-120"/>
              </a:rPr>
              <a:t>University students lack a unified digital platform that supports both personalised study scheduling and intelligent peer matching for collaborative learning. Existing tools address scheduling or social connection in isolation, but none combine these functions in an academically informed way.</a:t>
            </a:r>
            <a:endParaRPr lang="en-US" sz="1300" dirty="0"/>
          </a:p>
        </p:txBody>
      </p:sp>
      <p:sp>
        <p:nvSpPr>
          <p:cNvPr id="8" name="Shape 6"/>
          <p:cNvSpPr/>
          <p:nvPr/>
        </p:nvSpPr>
        <p:spPr>
          <a:xfrm>
            <a:off x="274320" y="2377440"/>
            <a:ext cx="2743200" cy="2423160"/>
          </a:xfrm>
          <a:prstGeom prst="rect">
            <a:avLst/>
          </a:prstGeom>
          <a:solidFill>
            <a:srgbClr val="FFFFFF"/>
          </a:solidFill>
          <a:ln w="12700">
            <a:solidFill>
              <a:srgbClr val="E5E7EB"/>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274320" y="2377440"/>
            <a:ext cx="64008" cy="2423160"/>
          </a:xfrm>
          <a:prstGeom prst="rect">
            <a:avLst/>
          </a:prstGeom>
          <a:solidFill>
            <a:srgbClr val="C1121F"/>
          </a:solidFill>
          <a:ln w="12700">
            <a:solidFill>
              <a:srgbClr val="C1121F"/>
            </a:solidFill>
            <a:prstDash val="solid"/>
          </a:ln>
        </p:spPr>
      </p:sp>
      <p:sp>
        <p:nvSpPr>
          <p:cNvPr id="10" name="Text 8"/>
          <p:cNvSpPr/>
          <p:nvPr/>
        </p:nvSpPr>
        <p:spPr>
          <a:xfrm>
            <a:off x="475488" y="2468880"/>
            <a:ext cx="2423160" cy="384048"/>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No structured planning</a:t>
            </a:r>
            <a:endParaRPr lang="en-US" sz="1200" dirty="0"/>
          </a:p>
        </p:txBody>
      </p:sp>
      <p:sp>
        <p:nvSpPr>
          <p:cNvPr id="11" name="Text 9"/>
          <p:cNvSpPr/>
          <p:nvPr/>
        </p:nvSpPr>
        <p:spPr>
          <a:xfrm>
            <a:off x="475488" y="2880360"/>
            <a:ext cx="2423160" cy="182880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Students have no personalised system to plan, track, and reflect on individual study sessions.</a:t>
            </a:r>
            <a:endParaRPr lang="en-US" sz="1100" dirty="0"/>
          </a:p>
        </p:txBody>
      </p:sp>
      <p:sp>
        <p:nvSpPr>
          <p:cNvPr id="12" name="Shape 10"/>
          <p:cNvSpPr/>
          <p:nvPr/>
        </p:nvSpPr>
        <p:spPr>
          <a:xfrm>
            <a:off x="3172968" y="2377440"/>
            <a:ext cx="2743200" cy="2423160"/>
          </a:xfrm>
          <a:prstGeom prst="rect">
            <a:avLst/>
          </a:prstGeom>
          <a:solidFill>
            <a:srgbClr val="FFFFFF"/>
          </a:solidFill>
          <a:ln w="12700">
            <a:solidFill>
              <a:srgbClr val="E5E7EB"/>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3172968" y="2377440"/>
            <a:ext cx="64008" cy="2423160"/>
          </a:xfrm>
          <a:prstGeom prst="rect">
            <a:avLst/>
          </a:prstGeom>
          <a:solidFill>
            <a:srgbClr val="E9C46A"/>
          </a:solidFill>
          <a:ln w="12700">
            <a:solidFill>
              <a:srgbClr val="E9C46A"/>
            </a:solidFill>
            <a:prstDash val="solid"/>
          </a:ln>
        </p:spPr>
      </p:sp>
      <p:sp>
        <p:nvSpPr>
          <p:cNvPr id="14" name="Text 12"/>
          <p:cNvSpPr/>
          <p:nvPr/>
        </p:nvSpPr>
        <p:spPr>
          <a:xfrm>
            <a:off x="3374136" y="2468880"/>
            <a:ext cx="2423160" cy="384048"/>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Random peer selection</a:t>
            </a:r>
            <a:endParaRPr lang="en-US" sz="1200" dirty="0"/>
          </a:p>
        </p:txBody>
      </p:sp>
      <p:sp>
        <p:nvSpPr>
          <p:cNvPr id="15" name="Text 13"/>
          <p:cNvSpPr/>
          <p:nvPr/>
        </p:nvSpPr>
        <p:spPr>
          <a:xfrm>
            <a:off x="3374136" y="2880360"/>
            <a:ext cx="2423160" cy="182880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Study partners chosen by proximity or convenience — not academic compatibility — causing imbalanced, unproductive sessions.</a:t>
            </a:r>
            <a:endParaRPr lang="en-US" sz="1100" dirty="0"/>
          </a:p>
        </p:txBody>
      </p:sp>
      <p:sp>
        <p:nvSpPr>
          <p:cNvPr id="16" name="Shape 14"/>
          <p:cNvSpPr/>
          <p:nvPr/>
        </p:nvSpPr>
        <p:spPr>
          <a:xfrm>
            <a:off x="6071616" y="2377440"/>
            <a:ext cx="2743200" cy="2423160"/>
          </a:xfrm>
          <a:prstGeom prst="rect">
            <a:avLst/>
          </a:prstGeom>
          <a:solidFill>
            <a:srgbClr val="FFFFFF"/>
          </a:solidFill>
          <a:ln w="12700">
            <a:solidFill>
              <a:srgbClr val="E5E7EB"/>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6071616" y="2377440"/>
            <a:ext cx="64008" cy="2423160"/>
          </a:xfrm>
          <a:prstGeom prst="rect">
            <a:avLst/>
          </a:prstGeom>
          <a:solidFill>
            <a:srgbClr val="3A86FF"/>
          </a:solidFill>
          <a:ln w="12700">
            <a:solidFill>
              <a:srgbClr val="3A86FF"/>
            </a:solidFill>
            <a:prstDash val="solid"/>
          </a:ln>
        </p:spPr>
      </p:sp>
      <p:sp>
        <p:nvSpPr>
          <p:cNvPr id="18" name="Text 16"/>
          <p:cNvSpPr/>
          <p:nvPr/>
        </p:nvSpPr>
        <p:spPr>
          <a:xfrm>
            <a:off x="6272784" y="2468880"/>
            <a:ext cx="2423160" cy="384048"/>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Missed peer support</a:t>
            </a:r>
            <a:endParaRPr lang="en-US" sz="1200" dirty="0"/>
          </a:p>
        </p:txBody>
      </p:sp>
      <p:sp>
        <p:nvSpPr>
          <p:cNvPr id="19" name="Text 17"/>
          <p:cNvSpPr/>
          <p:nvPr/>
        </p:nvSpPr>
        <p:spPr>
          <a:xfrm>
            <a:off x="6272784" y="2880360"/>
            <a:ext cx="2423160" cy="182880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Struggling students cannot identify peers who could help; strong students cannot find those who would benefit from their support.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3E"/>
          </a:solidFill>
          <a:ln w="12700">
            <a:solidFill>
              <a:srgbClr val="0D1B3E"/>
            </a:solidFill>
            <a:prstDash val="solid"/>
          </a:ln>
        </p:spPr>
      </p:sp>
      <p:sp>
        <p:nvSpPr>
          <p:cNvPr id="3" name="Text 1"/>
          <p:cNvSpPr/>
          <p:nvPr/>
        </p:nvSpPr>
        <p:spPr>
          <a:xfrm>
            <a:off x="365760" y="0"/>
            <a:ext cx="8229600" cy="50292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PROJECT AIM &amp; OBJECTIVES</a:t>
            </a:r>
            <a:endParaRPr lang="en-US" sz="1300" dirty="0"/>
          </a:p>
        </p:txBody>
      </p:sp>
      <p:sp>
        <p:nvSpPr>
          <p:cNvPr id="4" name="Text 2"/>
          <p:cNvSpPr/>
          <p:nvPr/>
        </p:nvSpPr>
        <p:spPr>
          <a:xfrm>
            <a:off x="365760" y="566928"/>
            <a:ext cx="8412480" cy="347472"/>
          </a:xfrm>
          <a:prstGeom prst="rect">
            <a:avLst/>
          </a:prstGeom>
          <a:noFill/>
          <a:ln/>
        </p:spPr>
        <p:txBody>
          <a:bodyPr wrap="square" lIns="0" tIns="0" rIns="0" bIns="0"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SMART objectives — Specific, Measurable, Achievable, Relevant, Time-bound</a:t>
            </a:r>
            <a:endParaRPr lang="en-US" sz="1100" dirty="0"/>
          </a:p>
        </p:txBody>
      </p:sp>
      <p:sp>
        <p:nvSpPr>
          <p:cNvPr id="5" name="Shape 3"/>
          <p:cNvSpPr/>
          <p:nvPr/>
        </p:nvSpPr>
        <p:spPr>
          <a:xfrm>
            <a:off x="274320" y="868680"/>
            <a:ext cx="8595360" cy="777240"/>
          </a:xfrm>
          <a:prstGeom prst="rect">
            <a:avLst/>
          </a:prstGeom>
          <a:solidFill>
            <a:srgbClr val="1E2761"/>
          </a:solidFill>
          <a:ln w="12700">
            <a:solidFill>
              <a:srgbClr val="1E2761"/>
            </a:solidFill>
            <a:prstDash val="solid"/>
          </a:ln>
          <a:effectLst>
            <a:outerShdw sx="100000" sy="100000" kx="0" ky="0" algn="bl" rotWithShape="0" blurRad="101600" dist="38100" dir="8100000">
              <a:srgbClr val="000000">
                <a:alpha val="12000"/>
              </a:srgbClr>
            </a:outerShdw>
          </a:effectLst>
        </p:spPr>
      </p:sp>
      <p:sp>
        <p:nvSpPr>
          <p:cNvPr id="6" name="Text 4"/>
          <p:cNvSpPr/>
          <p:nvPr/>
        </p:nvSpPr>
        <p:spPr>
          <a:xfrm>
            <a:off x="457200" y="886968"/>
            <a:ext cx="8229600" cy="758952"/>
          </a:xfrm>
          <a:prstGeom prst="rect">
            <a:avLst/>
          </a:prstGeom>
          <a:noFill/>
          <a:ln/>
        </p:spPr>
        <p:txBody>
          <a:bodyPr wrap="square" rtlCol="0" anchor="ctr"/>
          <a:lstStyle/>
          <a:p>
            <a:pPr indent="0" marL="0">
              <a:buNone/>
            </a:pPr>
            <a:r>
              <a:rPr lang="en-US" sz="1150" b="1" dirty="0">
                <a:solidFill>
                  <a:srgbClr val="CADCFC"/>
                </a:solidFill>
                <a:latin typeface="Calibri" pitchFamily="34" charset="0"/>
                <a:ea typeface="Calibri" pitchFamily="34" charset="-122"/>
                <a:cs typeface="Calibri" pitchFamily="34" charset="-120"/>
              </a:rPr>
              <a:t>AIM:  </a:t>
            </a:r>
            <a:pPr indent="0" marL="0">
              <a:buNone/>
            </a:pPr>
            <a:r>
              <a:rPr lang="en-US" sz="1150" dirty="0">
                <a:solidFill>
                  <a:srgbClr val="FFFFFF"/>
                </a:solidFill>
                <a:latin typeface="Calibri" pitchFamily="34" charset="0"/>
                <a:ea typeface="Calibri" pitchFamily="34" charset="-122"/>
                <a:cs typeface="Calibri" pitchFamily="34" charset="-120"/>
              </a:rPr>
              <a:t>To develop a web-based StudyPlannerApp that supports study scheduling and applies machine learning-based algorithms to match students for collaborative GroupStudy sessions based on their academic strengths, weaknesses, and learning preferences.</a:t>
            </a:r>
            <a:endParaRPr lang="en-US" sz="1150" dirty="0"/>
          </a:p>
        </p:txBody>
      </p:sp>
      <p:sp>
        <p:nvSpPr>
          <p:cNvPr id="7" name="Shape 5"/>
          <p:cNvSpPr/>
          <p:nvPr/>
        </p:nvSpPr>
        <p:spPr>
          <a:xfrm>
            <a:off x="274320" y="1828800"/>
            <a:ext cx="4206240" cy="137160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274320" y="1828800"/>
            <a:ext cx="64008" cy="1371600"/>
          </a:xfrm>
          <a:prstGeom prst="rect">
            <a:avLst/>
          </a:prstGeom>
          <a:solidFill>
            <a:srgbClr val="3A86FF"/>
          </a:solidFill>
          <a:ln w="12700">
            <a:solidFill>
              <a:srgbClr val="3A86FF"/>
            </a:solidFill>
            <a:prstDash val="solid"/>
          </a:ln>
        </p:spPr>
      </p:sp>
      <p:sp>
        <p:nvSpPr>
          <p:cNvPr id="9" name="Shape 7"/>
          <p:cNvSpPr/>
          <p:nvPr/>
        </p:nvSpPr>
        <p:spPr>
          <a:xfrm>
            <a:off x="411480" y="1938528"/>
            <a:ext cx="475488" cy="475488"/>
          </a:xfrm>
          <a:prstGeom prst="rect">
            <a:avLst/>
          </a:prstGeom>
          <a:solidFill>
            <a:srgbClr val="3A86FF"/>
          </a:solidFill>
          <a:ln w="12700">
            <a:solidFill>
              <a:srgbClr val="3A86FF"/>
            </a:solidFill>
            <a:prstDash val="solid"/>
          </a:ln>
        </p:spPr>
      </p:sp>
      <p:sp>
        <p:nvSpPr>
          <p:cNvPr id="10" name="Text 8"/>
          <p:cNvSpPr/>
          <p:nvPr/>
        </p:nvSpPr>
        <p:spPr>
          <a:xfrm>
            <a:off x="411480" y="193852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1" name="Text 9"/>
          <p:cNvSpPr/>
          <p:nvPr/>
        </p:nvSpPr>
        <p:spPr>
          <a:xfrm>
            <a:off x="1024128" y="1920240"/>
            <a:ext cx="3337560" cy="1188720"/>
          </a:xfrm>
          <a:prstGeom prst="rect">
            <a:avLst/>
          </a:prstGeom>
          <a:noFill/>
          <a:ln/>
        </p:spPr>
        <p:txBody>
          <a:bodyPr wrap="square" rtlCol="0" anchor="t"/>
          <a:lstStyle/>
          <a:p>
            <a:pPr indent="0" marL="0">
              <a:buNone/>
            </a:pPr>
            <a:r>
              <a:rPr lang="en-US" sz="1050" dirty="0">
                <a:solidFill>
                  <a:srgbClr val="1A1A2E"/>
                </a:solidFill>
                <a:latin typeface="Calibri" pitchFamily="34" charset="0"/>
                <a:ea typeface="Calibri" pitchFamily="34" charset="-122"/>
                <a:cs typeface="Calibri" pitchFamily="34" charset="-120"/>
              </a:rPr>
              <a:t>Design and implement a web-based study scheduling module using React.js and Django REST Framework within 10 weeks, enabling authenticated students to create, update, and manage personal study timetables and subject goals.</a:t>
            </a:r>
            <a:endParaRPr lang="en-US" sz="1050" dirty="0"/>
          </a:p>
        </p:txBody>
      </p:sp>
      <p:sp>
        <p:nvSpPr>
          <p:cNvPr id="12" name="Shape 10"/>
          <p:cNvSpPr/>
          <p:nvPr/>
        </p:nvSpPr>
        <p:spPr>
          <a:xfrm>
            <a:off x="4709160" y="1828800"/>
            <a:ext cx="4206240" cy="137160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4709160" y="1828800"/>
            <a:ext cx="64008" cy="1371600"/>
          </a:xfrm>
          <a:prstGeom prst="rect">
            <a:avLst/>
          </a:prstGeom>
          <a:solidFill>
            <a:srgbClr val="6A4C93"/>
          </a:solidFill>
          <a:ln w="12700">
            <a:solidFill>
              <a:srgbClr val="6A4C93"/>
            </a:solidFill>
            <a:prstDash val="solid"/>
          </a:ln>
        </p:spPr>
      </p:sp>
      <p:sp>
        <p:nvSpPr>
          <p:cNvPr id="14" name="Shape 12"/>
          <p:cNvSpPr/>
          <p:nvPr/>
        </p:nvSpPr>
        <p:spPr>
          <a:xfrm>
            <a:off x="4846320" y="1938528"/>
            <a:ext cx="475488" cy="475488"/>
          </a:xfrm>
          <a:prstGeom prst="rect">
            <a:avLst/>
          </a:prstGeom>
          <a:solidFill>
            <a:srgbClr val="6A4C93"/>
          </a:solidFill>
          <a:ln w="12700">
            <a:solidFill>
              <a:srgbClr val="6A4C93"/>
            </a:solidFill>
            <a:prstDash val="solid"/>
          </a:ln>
        </p:spPr>
      </p:sp>
      <p:sp>
        <p:nvSpPr>
          <p:cNvPr id="15" name="Text 13"/>
          <p:cNvSpPr/>
          <p:nvPr/>
        </p:nvSpPr>
        <p:spPr>
          <a:xfrm>
            <a:off x="4846320" y="193852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6" name="Text 14"/>
          <p:cNvSpPr/>
          <p:nvPr/>
        </p:nvSpPr>
        <p:spPr>
          <a:xfrm>
            <a:off x="5458968" y="1920240"/>
            <a:ext cx="3337560" cy="1188720"/>
          </a:xfrm>
          <a:prstGeom prst="rect">
            <a:avLst/>
          </a:prstGeom>
          <a:noFill/>
          <a:ln/>
        </p:spPr>
        <p:txBody>
          <a:bodyPr wrap="square" rtlCol="0" anchor="t"/>
          <a:lstStyle/>
          <a:p>
            <a:pPr indent="0" marL="0">
              <a:buNone/>
            </a:pPr>
            <a:r>
              <a:rPr lang="en-US" sz="1050" dirty="0">
                <a:solidFill>
                  <a:srgbClr val="1A1A2E"/>
                </a:solidFill>
                <a:latin typeface="Calibri" pitchFamily="34" charset="0"/>
                <a:ea typeface="Calibri" pitchFamily="34" charset="-122"/>
                <a:cs typeface="Calibri" pitchFamily="34" charset="-120"/>
              </a:rPr>
              <a:t>Develop an optional GroupStudy feature by Week 9 allowing students to opt in, coordinate meeting times with matched peers, and track session history through a shared dashboard.</a:t>
            </a:r>
            <a:endParaRPr lang="en-US" sz="1050" dirty="0"/>
          </a:p>
        </p:txBody>
      </p:sp>
      <p:sp>
        <p:nvSpPr>
          <p:cNvPr id="17" name="Shape 15"/>
          <p:cNvSpPr/>
          <p:nvPr/>
        </p:nvSpPr>
        <p:spPr>
          <a:xfrm>
            <a:off x="274320" y="3337560"/>
            <a:ext cx="4206240" cy="137160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274320" y="3337560"/>
            <a:ext cx="64008" cy="1371600"/>
          </a:xfrm>
          <a:prstGeom prst="rect">
            <a:avLst/>
          </a:prstGeom>
          <a:solidFill>
            <a:srgbClr val="2D6A4F"/>
          </a:solidFill>
          <a:ln w="12700">
            <a:solidFill>
              <a:srgbClr val="2D6A4F"/>
            </a:solidFill>
            <a:prstDash val="solid"/>
          </a:ln>
        </p:spPr>
      </p:sp>
      <p:sp>
        <p:nvSpPr>
          <p:cNvPr id="19" name="Shape 17"/>
          <p:cNvSpPr/>
          <p:nvPr/>
        </p:nvSpPr>
        <p:spPr>
          <a:xfrm>
            <a:off x="411480" y="3447288"/>
            <a:ext cx="475488" cy="475488"/>
          </a:xfrm>
          <a:prstGeom prst="rect">
            <a:avLst/>
          </a:prstGeom>
          <a:solidFill>
            <a:srgbClr val="2D6A4F"/>
          </a:solidFill>
          <a:ln w="12700">
            <a:solidFill>
              <a:srgbClr val="2D6A4F"/>
            </a:solidFill>
            <a:prstDash val="solid"/>
          </a:ln>
        </p:spPr>
      </p:sp>
      <p:sp>
        <p:nvSpPr>
          <p:cNvPr id="20" name="Text 18"/>
          <p:cNvSpPr/>
          <p:nvPr/>
        </p:nvSpPr>
        <p:spPr>
          <a:xfrm>
            <a:off x="411480" y="344728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1" name="Text 19"/>
          <p:cNvSpPr/>
          <p:nvPr/>
        </p:nvSpPr>
        <p:spPr>
          <a:xfrm>
            <a:off x="1024128" y="3429000"/>
            <a:ext cx="3337560" cy="1188720"/>
          </a:xfrm>
          <a:prstGeom prst="rect">
            <a:avLst/>
          </a:prstGeom>
          <a:noFill/>
          <a:ln/>
        </p:spPr>
        <p:txBody>
          <a:bodyPr wrap="square" rtlCol="0" anchor="t"/>
          <a:lstStyle/>
          <a:p>
            <a:pPr indent="0" marL="0">
              <a:buNone/>
            </a:pPr>
            <a:r>
              <a:rPr lang="en-US" sz="1050" dirty="0">
                <a:solidFill>
                  <a:srgbClr val="1A1A2E"/>
                </a:solidFill>
                <a:latin typeface="Calibri" pitchFamily="34" charset="0"/>
                <a:ea typeface="Calibri" pitchFamily="34" charset="-122"/>
                <a:cs typeface="Calibri" pitchFamily="34" charset="-120"/>
              </a:rPr>
              <a:t>Design and integrate an AI matching model — using student-reported subject strengths and weaknesses — achieving at least 75% user-perceived match relevance via post-session feedback by Week 11.</a:t>
            </a:r>
            <a:endParaRPr lang="en-US" sz="1050" dirty="0"/>
          </a:p>
        </p:txBody>
      </p:sp>
      <p:sp>
        <p:nvSpPr>
          <p:cNvPr id="22" name="Shape 20"/>
          <p:cNvSpPr/>
          <p:nvPr/>
        </p:nvSpPr>
        <p:spPr>
          <a:xfrm>
            <a:off x="4709160" y="3337560"/>
            <a:ext cx="4206240" cy="137160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4709160" y="3337560"/>
            <a:ext cx="64008" cy="1371600"/>
          </a:xfrm>
          <a:prstGeom prst="rect">
            <a:avLst/>
          </a:prstGeom>
          <a:solidFill>
            <a:srgbClr val="E9C46A"/>
          </a:solidFill>
          <a:ln w="12700">
            <a:solidFill>
              <a:srgbClr val="E9C46A"/>
            </a:solidFill>
            <a:prstDash val="solid"/>
          </a:ln>
        </p:spPr>
      </p:sp>
      <p:sp>
        <p:nvSpPr>
          <p:cNvPr id="24" name="Shape 22"/>
          <p:cNvSpPr/>
          <p:nvPr/>
        </p:nvSpPr>
        <p:spPr>
          <a:xfrm>
            <a:off x="4846320" y="3447288"/>
            <a:ext cx="475488" cy="475488"/>
          </a:xfrm>
          <a:prstGeom prst="rect">
            <a:avLst/>
          </a:prstGeom>
          <a:solidFill>
            <a:srgbClr val="E9C46A"/>
          </a:solidFill>
          <a:ln w="12700">
            <a:solidFill>
              <a:srgbClr val="E9C46A"/>
            </a:solidFill>
            <a:prstDash val="solid"/>
          </a:ln>
        </p:spPr>
      </p:sp>
      <p:sp>
        <p:nvSpPr>
          <p:cNvPr id="25" name="Text 23"/>
          <p:cNvSpPr/>
          <p:nvPr/>
        </p:nvSpPr>
        <p:spPr>
          <a:xfrm>
            <a:off x="4846320" y="344728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6" name="Text 24"/>
          <p:cNvSpPr/>
          <p:nvPr/>
        </p:nvSpPr>
        <p:spPr>
          <a:xfrm>
            <a:off x="5458968" y="3429000"/>
            <a:ext cx="3337560" cy="1188720"/>
          </a:xfrm>
          <a:prstGeom prst="rect">
            <a:avLst/>
          </a:prstGeom>
          <a:noFill/>
          <a:ln/>
        </p:spPr>
        <p:txBody>
          <a:bodyPr wrap="square" rtlCol="0" anchor="t"/>
          <a:lstStyle/>
          <a:p>
            <a:pPr indent="0" marL="0">
              <a:buNone/>
            </a:pPr>
            <a:r>
              <a:rPr lang="en-US" sz="1050" dirty="0">
                <a:solidFill>
                  <a:srgbClr val="1A1A2E"/>
                </a:solidFill>
                <a:latin typeface="Calibri" pitchFamily="34" charset="0"/>
                <a:ea typeface="Calibri" pitchFamily="34" charset="-122"/>
                <a:cs typeface="Calibri" pitchFamily="34" charset="-120"/>
              </a:rPr>
              <a:t>Evaluate system effectiveness by conducting user testing with a minimum of 20 students by Week 12, measuring task completion rate (≥85%) and satisfaction using a standardised questionnaire.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3E"/>
          </a:solidFill>
          <a:ln w="12700">
            <a:solidFill>
              <a:srgbClr val="0D1B3E"/>
            </a:solidFill>
            <a:prstDash val="solid"/>
          </a:ln>
        </p:spPr>
      </p:sp>
      <p:sp>
        <p:nvSpPr>
          <p:cNvPr id="3" name="Text 1"/>
          <p:cNvSpPr/>
          <p:nvPr/>
        </p:nvSpPr>
        <p:spPr>
          <a:xfrm>
            <a:off x="365760" y="0"/>
            <a:ext cx="8229600" cy="50292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SCOPE OF THE PROJECT</a:t>
            </a:r>
            <a:endParaRPr lang="en-US" sz="1300" dirty="0"/>
          </a:p>
        </p:txBody>
      </p:sp>
      <p:sp>
        <p:nvSpPr>
          <p:cNvPr id="4" name="Text 2"/>
          <p:cNvSpPr/>
          <p:nvPr/>
        </p:nvSpPr>
        <p:spPr>
          <a:xfrm>
            <a:off x="365760" y="566928"/>
            <a:ext cx="8412480" cy="347472"/>
          </a:xfrm>
          <a:prstGeom prst="rect">
            <a:avLst/>
          </a:prstGeom>
          <a:noFill/>
          <a:ln/>
        </p:spPr>
        <p:txBody>
          <a:bodyPr wrap="square" lIns="0" tIns="0" rIns="0" bIns="0"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What the system will and will not do</a:t>
            </a:r>
            <a:endParaRPr lang="en-US" sz="1100" dirty="0"/>
          </a:p>
        </p:txBody>
      </p:sp>
      <p:sp>
        <p:nvSpPr>
          <p:cNvPr id="5" name="Shape 3"/>
          <p:cNvSpPr/>
          <p:nvPr/>
        </p:nvSpPr>
        <p:spPr>
          <a:xfrm>
            <a:off x="274320" y="960120"/>
            <a:ext cx="4114800" cy="393192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74320" y="960120"/>
            <a:ext cx="4114800" cy="457200"/>
          </a:xfrm>
          <a:prstGeom prst="rect">
            <a:avLst/>
          </a:prstGeom>
          <a:solidFill>
            <a:srgbClr val="2D6A4F"/>
          </a:solidFill>
          <a:ln w="12700">
            <a:solidFill>
              <a:srgbClr val="2D6A4F"/>
            </a:solidFill>
            <a:prstDash val="solid"/>
          </a:ln>
        </p:spPr>
      </p:sp>
      <p:sp>
        <p:nvSpPr>
          <p:cNvPr id="7" name="Text 5"/>
          <p:cNvSpPr/>
          <p:nvPr/>
        </p:nvSpPr>
        <p:spPr>
          <a:xfrm>
            <a:off x="365760" y="960120"/>
            <a:ext cx="39319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IN SCOPE</a:t>
            </a:r>
            <a:endParaRPr lang="en-US" sz="1300" dirty="0"/>
          </a:p>
        </p:txBody>
      </p:sp>
      <p:sp>
        <p:nvSpPr>
          <p:cNvPr id="8" name="Text 6"/>
          <p:cNvSpPr/>
          <p:nvPr/>
        </p:nvSpPr>
        <p:spPr>
          <a:xfrm>
            <a:off x="457200" y="1508760"/>
            <a:ext cx="3749040" cy="548640"/>
          </a:xfrm>
          <a:prstGeom prst="rect">
            <a:avLst/>
          </a:prstGeom>
          <a:noFill/>
          <a:ln/>
        </p:spPr>
        <p:txBody>
          <a:bodyPr wrap="square" rtlCol="0" anchor="ctr"/>
          <a:lstStyle/>
          <a:p>
            <a:pPr indent="0" marL="0">
              <a:buNone/>
            </a:pPr>
            <a:r>
              <a:rPr lang="en-US" sz="1150" b="1" dirty="0">
                <a:solidFill>
                  <a:srgbClr val="2D6A4F"/>
                </a:solidFill>
                <a:latin typeface="Calibri" pitchFamily="34" charset="0"/>
                <a:ea typeface="Calibri" pitchFamily="34" charset="-122"/>
                <a:cs typeface="Calibri" pitchFamily="34" charset="-120"/>
              </a:rPr>
              <a:t>✔  </a:t>
            </a:r>
            <a:pPr indent="0" marL="0">
              <a:buNone/>
            </a:pPr>
            <a:r>
              <a:rPr lang="en-US" sz="1150" dirty="0">
                <a:solidFill>
                  <a:srgbClr val="1A1A2E"/>
                </a:solidFill>
                <a:latin typeface="Calibri" pitchFamily="34" charset="0"/>
                <a:ea typeface="Calibri" pitchFamily="34" charset="-122"/>
                <a:cs typeface="Calibri" pitchFamily="34" charset="-120"/>
              </a:rPr>
              <a:t>Study schedule creation and management</a:t>
            </a:r>
            <a:endParaRPr lang="en-US" sz="1150" dirty="0"/>
          </a:p>
        </p:txBody>
      </p:sp>
      <p:sp>
        <p:nvSpPr>
          <p:cNvPr id="9" name="Text 7"/>
          <p:cNvSpPr/>
          <p:nvPr/>
        </p:nvSpPr>
        <p:spPr>
          <a:xfrm>
            <a:off x="457200" y="2121408"/>
            <a:ext cx="3749040" cy="548640"/>
          </a:xfrm>
          <a:prstGeom prst="rect">
            <a:avLst/>
          </a:prstGeom>
          <a:noFill/>
          <a:ln/>
        </p:spPr>
        <p:txBody>
          <a:bodyPr wrap="square" rtlCol="0" anchor="ctr"/>
          <a:lstStyle/>
          <a:p>
            <a:pPr indent="0" marL="0">
              <a:buNone/>
            </a:pPr>
            <a:r>
              <a:rPr lang="en-US" sz="1150" b="1" dirty="0">
                <a:solidFill>
                  <a:srgbClr val="2D6A4F"/>
                </a:solidFill>
                <a:latin typeface="Calibri" pitchFamily="34" charset="0"/>
                <a:ea typeface="Calibri" pitchFamily="34" charset="-122"/>
                <a:cs typeface="Calibri" pitchFamily="34" charset="-120"/>
              </a:rPr>
              <a:t>✔  </a:t>
            </a:r>
            <a:pPr indent="0" marL="0">
              <a:buNone/>
            </a:pPr>
            <a:r>
              <a:rPr lang="en-US" sz="1150" dirty="0">
                <a:solidFill>
                  <a:srgbClr val="1A1A2E"/>
                </a:solidFill>
                <a:latin typeface="Calibri" pitchFamily="34" charset="0"/>
                <a:ea typeface="Calibri" pitchFamily="34" charset="-122"/>
                <a:cs typeface="Calibri" pitchFamily="34" charset="-120"/>
              </a:rPr>
              <a:t>GroupStudy session creation and participation</a:t>
            </a:r>
            <a:endParaRPr lang="en-US" sz="1150" dirty="0"/>
          </a:p>
        </p:txBody>
      </p:sp>
      <p:sp>
        <p:nvSpPr>
          <p:cNvPr id="10" name="Text 8"/>
          <p:cNvSpPr/>
          <p:nvPr/>
        </p:nvSpPr>
        <p:spPr>
          <a:xfrm>
            <a:off x="457200" y="2734056"/>
            <a:ext cx="3749040" cy="548640"/>
          </a:xfrm>
          <a:prstGeom prst="rect">
            <a:avLst/>
          </a:prstGeom>
          <a:noFill/>
          <a:ln/>
        </p:spPr>
        <p:txBody>
          <a:bodyPr wrap="square" rtlCol="0" anchor="ctr"/>
          <a:lstStyle/>
          <a:p>
            <a:pPr indent="0" marL="0">
              <a:buNone/>
            </a:pPr>
            <a:r>
              <a:rPr lang="en-US" sz="1150" b="1" dirty="0">
                <a:solidFill>
                  <a:srgbClr val="2D6A4F"/>
                </a:solidFill>
                <a:latin typeface="Calibri" pitchFamily="34" charset="0"/>
                <a:ea typeface="Calibri" pitchFamily="34" charset="-122"/>
                <a:cs typeface="Calibri" pitchFamily="34" charset="-120"/>
              </a:rPr>
              <a:t>✔  </a:t>
            </a:r>
            <a:pPr indent="0" marL="0">
              <a:buNone/>
            </a:pPr>
            <a:r>
              <a:rPr lang="en-US" sz="1150" dirty="0">
                <a:solidFill>
                  <a:srgbClr val="1A1A2E"/>
                </a:solidFill>
                <a:latin typeface="Calibri" pitchFamily="34" charset="0"/>
                <a:ea typeface="Calibri" pitchFamily="34" charset="-122"/>
                <a:cs typeface="Calibri" pitchFamily="34" charset="-120"/>
              </a:rPr>
              <a:t>AI-based student matching using academic data (subjects, performance, schedules)</a:t>
            </a:r>
            <a:endParaRPr lang="en-US" sz="1150" dirty="0"/>
          </a:p>
        </p:txBody>
      </p:sp>
      <p:sp>
        <p:nvSpPr>
          <p:cNvPr id="11" name="Text 9"/>
          <p:cNvSpPr/>
          <p:nvPr/>
        </p:nvSpPr>
        <p:spPr>
          <a:xfrm>
            <a:off x="457200" y="3346704"/>
            <a:ext cx="3749040" cy="548640"/>
          </a:xfrm>
          <a:prstGeom prst="rect">
            <a:avLst/>
          </a:prstGeom>
          <a:noFill/>
          <a:ln/>
        </p:spPr>
        <p:txBody>
          <a:bodyPr wrap="square" rtlCol="0" anchor="ctr"/>
          <a:lstStyle/>
          <a:p>
            <a:pPr indent="0" marL="0">
              <a:buNone/>
            </a:pPr>
            <a:r>
              <a:rPr lang="en-US" sz="1150" b="1" dirty="0">
                <a:solidFill>
                  <a:srgbClr val="2D6A4F"/>
                </a:solidFill>
                <a:latin typeface="Calibri" pitchFamily="34" charset="0"/>
                <a:ea typeface="Calibri" pitchFamily="34" charset="-122"/>
                <a:cs typeface="Calibri" pitchFamily="34" charset="-120"/>
              </a:rPr>
              <a:t>✔  </a:t>
            </a:r>
            <a:pPr indent="0" marL="0">
              <a:buNone/>
            </a:pPr>
            <a:r>
              <a:rPr lang="en-US" sz="1150" dirty="0">
                <a:solidFill>
                  <a:srgbClr val="1A1A2E"/>
                </a:solidFill>
                <a:latin typeface="Calibri" pitchFamily="34" charset="0"/>
                <a:ea typeface="Calibri" pitchFamily="34" charset="-122"/>
                <a:cs typeface="Calibri" pitchFamily="34" charset="-120"/>
              </a:rPr>
              <a:t>User authentication and profile management</a:t>
            </a:r>
            <a:endParaRPr lang="en-US" sz="1150" dirty="0"/>
          </a:p>
        </p:txBody>
      </p:sp>
      <p:sp>
        <p:nvSpPr>
          <p:cNvPr id="12" name="Shape 10"/>
          <p:cNvSpPr/>
          <p:nvPr/>
        </p:nvSpPr>
        <p:spPr>
          <a:xfrm>
            <a:off x="4754880" y="960120"/>
            <a:ext cx="4114800" cy="393192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4754880" y="960120"/>
            <a:ext cx="4114800" cy="457200"/>
          </a:xfrm>
          <a:prstGeom prst="rect">
            <a:avLst/>
          </a:prstGeom>
          <a:solidFill>
            <a:srgbClr val="C1121F"/>
          </a:solidFill>
          <a:ln w="12700">
            <a:solidFill>
              <a:srgbClr val="C1121F"/>
            </a:solidFill>
            <a:prstDash val="solid"/>
          </a:ln>
        </p:spPr>
      </p:sp>
      <p:sp>
        <p:nvSpPr>
          <p:cNvPr id="14" name="Text 12"/>
          <p:cNvSpPr/>
          <p:nvPr/>
        </p:nvSpPr>
        <p:spPr>
          <a:xfrm>
            <a:off x="4846320" y="960120"/>
            <a:ext cx="393192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OUT OF SCOPE</a:t>
            </a:r>
            <a:endParaRPr lang="en-US" sz="1300" dirty="0"/>
          </a:p>
        </p:txBody>
      </p:sp>
      <p:sp>
        <p:nvSpPr>
          <p:cNvPr id="15" name="Text 13"/>
          <p:cNvSpPr/>
          <p:nvPr/>
        </p:nvSpPr>
        <p:spPr>
          <a:xfrm>
            <a:off x="4937760" y="1508760"/>
            <a:ext cx="3749040" cy="45720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  </a:t>
            </a:r>
            <a:pPr indent="0" marL="0">
              <a:buNone/>
            </a:pPr>
            <a:r>
              <a:rPr lang="en-US" sz="1100" dirty="0">
                <a:solidFill>
                  <a:srgbClr val="1A1A2E"/>
                </a:solidFill>
                <a:latin typeface="Calibri" pitchFamily="34" charset="0"/>
                <a:ea typeface="Calibri" pitchFamily="34" charset="-122"/>
                <a:cs typeface="Calibri" pitchFamily="34" charset="-120"/>
              </a:rPr>
              <a:t>LMS integration (e.g., Moodle, Blackboard)</a:t>
            </a:r>
            <a:endParaRPr lang="en-US" sz="1100" dirty="0"/>
          </a:p>
        </p:txBody>
      </p:sp>
      <p:sp>
        <p:nvSpPr>
          <p:cNvPr id="16" name="Text 14"/>
          <p:cNvSpPr/>
          <p:nvPr/>
        </p:nvSpPr>
        <p:spPr>
          <a:xfrm>
            <a:off x="4937760" y="2011680"/>
            <a:ext cx="3749040" cy="45720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  </a:t>
            </a:r>
            <a:pPr indent="0" marL="0">
              <a:buNone/>
            </a:pPr>
            <a:r>
              <a:rPr lang="en-US" sz="1100" dirty="0">
                <a:solidFill>
                  <a:srgbClr val="1A1A2E"/>
                </a:solidFill>
                <a:latin typeface="Calibri" pitchFamily="34" charset="0"/>
                <a:ea typeface="Calibri" pitchFamily="34" charset="-122"/>
                <a:cs typeface="Calibri" pitchFamily="34" charset="-120"/>
              </a:rPr>
              <a:t>Automated grading or GPA calculation</a:t>
            </a:r>
            <a:endParaRPr lang="en-US" sz="1100" dirty="0"/>
          </a:p>
        </p:txBody>
      </p:sp>
      <p:sp>
        <p:nvSpPr>
          <p:cNvPr id="17" name="Text 15"/>
          <p:cNvSpPr/>
          <p:nvPr/>
        </p:nvSpPr>
        <p:spPr>
          <a:xfrm>
            <a:off x="4937760" y="2514600"/>
            <a:ext cx="3749040" cy="45720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  </a:t>
            </a:r>
            <a:pPr indent="0" marL="0">
              <a:buNone/>
            </a:pPr>
            <a:r>
              <a:rPr lang="en-US" sz="1100" dirty="0">
                <a:solidFill>
                  <a:srgbClr val="1A1A2E"/>
                </a:solidFill>
                <a:latin typeface="Calibri" pitchFamily="34" charset="0"/>
                <a:ea typeface="Calibri" pitchFamily="34" charset="-122"/>
                <a:cs typeface="Calibri" pitchFamily="34" charset="-120"/>
              </a:rPr>
              <a:t>Real-time video conferencing</a:t>
            </a:r>
            <a:endParaRPr lang="en-US" sz="1100" dirty="0"/>
          </a:p>
        </p:txBody>
      </p:sp>
      <p:sp>
        <p:nvSpPr>
          <p:cNvPr id="18" name="Text 16"/>
          <p:cNvSpPr/>
          <p:nvPr/>
        </p:nvSpPr>
        <p:spPr>
          <a:xfrm>
            <a:off x="4937760" y="3017520"/>
            <a:ext cx="3749040" cy="45720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  </a:t>
            </a:r>
            <a:pPr indent="0" marL="0">
              <a:buNone/>
            </a:pPr>
            <a:r>
              <a:rPr lang="en-US" sz="1100" dirty="0">
                <a:solidFill>
                  <a:srgbClr val="1A1A2E"/>
                </a:solidFill>
                <a:latin typeface="Calibri" pitchFamily="34" charset="0"/>
                <a:ea typeface="Calibri" pitchFamily="34" charset="-122"/>
                <a:cs typeface="Calibri" pitchFamily="34" charset="-120"/>
              </a:rPr>
              <a:t>Built-in chat / messaging</a:t>
            </a:r>
            <a:endParaRPr lang="en-US" sz="1100" dirty="0"/>
          </a:p>
        </p:txBody>
      </p:sp>
      <p:sp>
        <p:nvSpPr>
          <p:cNvPr id="19" name="Text 17"/>
          <p:cNvSpPr/>
          <p:nvPr/>
        </p:nvSpPr>
        <p:spPr>
          <a:xfrm>
            <a:off x="4937760" y="3520440"/>
            <a:ext cx="3749040" cy="45720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  </a:t>
            </a:r>
            <a:pPr indent="0" marL="0">
              <a:buNone/>
            </a:pPr>
            <a:r>
              <a:rPr lang="en-US" sz="1100" dirty="0">
                <a:solidFill>
                  <a:srgbClr val="1A1A2E"/>
                </a:solidFill>
                <a:latin typeface="Calibri" pitchFamily="34" charset="0"/>
                <a:ea typeface="Calibri" pitchFamily="34" charset="-122"/>
                <a:cs typeface="Calibri" pitchFamily="34" charset="-120"/>
              </a:rPr>
              <a:t>Native mobile apps (iOS or Android)</a:t>
            </a:r>
            <a:endParaRPr lang="en-US" sz="1100" dirty="0"/>
          </a:p>
        </p:txBody>
      </p:sp>
      <p:sp>
        <p:nvSpPr>
          <p:cNvPr id="20" name="Text 18"/>
          <p:cNvSpPr/>
          <p:nvPr/>
        </p:nvSpPr>
        <p:spPr>
          <a:xfrm>
            <a:off x="4937760" y="4023360"/>
            <a:ext cx="3749040" cy="457200"/>
          </a:xfrm>
          <a:prstGeom prst="rect">
            <a:avLst/>
          </a:prstGeom>
          <a:noFill/>
          <a:ln/>
        </p:spPr>
        <p:txBody>
          <a:bodyPr wrap="square" rtlCol="0" anchor="ctr"/>
          <a:lstStyle/>
          <a:p>
            <a:pPr indent="0" marL="0">
              <a:buNone/>
            </a:pPr>
            <a:r>
              <a:rPr lang="en-US" sz="1100" b="1" dirty="0">
                <a:solidFill>
                  <a:srgbClr val="C1121F"/>
                </a:solidFill>
                <a:latin typeface="Calibri" pitchFamily="34" charset="0"/>
                <a:ea typeface="Calibri" pitchFamily="34" charset="-122"/>
                <a:cs typeface="Calibri" pitchFamily="34" charset="-120"/>
              </a:rPr>
              <a:t>✘  </a:t>
            </a:r>
            <a:pPr indent="0" marL="0">
              <a:buNone/>
            </a:pPr>
            <a:r>
              <a:rPr lang="en-US" sz="1100" dirty="0">
                <a:solidFill>
                  <a:srgbClr val="1A1A2E"/>
                </a:solidFill>
                <a:latin typeface="Calibri" pitchFamily="34" charset="0"/>
                <a:ea typeface="Calibri" pitchFamily="34" charset="-122"/>
                <a:cs typeface="Calibri" pitchFamily="34" charset="-120"/>
              </a:rPr>
              <a:t>External payment or billing systems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3E"/>
          </a:solidFill>
          <a:ln w="12700">
            <a:solidFill>
              <a:srgbClr val="0D1B3E"/>
            </a:solidFill>
            <a:prstDash val="solid"/>
          </a:ln>
        </p:spPr>
      </p:sp>
      <p:sp>
        <p:nvSpPr>
          <p:cNvPr id="3" name="Text 1"/>
          <p:cNvSpPr/>
          <p:nvPr/>
        </p:nvSpPr>
        <p:spPr>
          <a:xfrm>
            <a:off x="365760" y="0"/>
            <a:ext cx="8229600" cy="50292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LITERATURE OVERVIEW</a:t>
            </a:r>
            <a:endParaRPr lang="en-US" sz="1300" dirty="0"/>
          </a:p>
        </p:txBody>
      </p:sp>
      <p:sp>
        <p:nvSpPr>
          <p:cNvPr id="4" name="Text 2"/>
          <p:cNvSpPr/>
          <p:nvPr/>
        </p:nvSpPr>
        <p:spPr>
          <a:xfrm>
            <a:off x="365760" y="566928"/>
            <a:ext cx="8412480" cy="347472"/>
          </a:xfrm>
          <a:prstGeom prst="rect">
            <a:avLst/>
          </a:prstGeom>
          <a:noFill/>
          <a:ln/>
        </p:spPr>
        <p:txBody>
          <a:bodyPr wrap="square" lIns="0" tIns="0" rIns="0" bIns="0"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What exists, what the gaps are, and how this project responds</a:t>
            </a:r>
            <a:endParaRPr lang="en-US" sz="1100" dirty="0"/>
          </a:p>
        </p:txBody>
      </p:sp>
      <p:sp>
        <p:nvSpPr>
          <p:cNvPr id="5" name="Shape 3"/>
          <p:cNvSpPr/>
          <p:nvPr/>
        </p:nvSpPr>
        <p:spPr>
          <a:xfrm>
            <a:off x="274320" y="960120"/>
            <a:ext cx="4206240" cy="1737360"/>
          </a:xfrm>
          <a:prstGeom prst="rect">
            <a:avLst/>
          </a:prstGeom>
          <a:solidFill>
            <a:srgbClr val="FFFFFF"/>
          </a:solidFill>
          <a:ln w="12700">
            <a:solidFill>
              <a:srgbClr val="E5E7EB"/>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74320" y="960120"/>
            <a:ext cx="64008" cy="1737360"/>
          </a:xfrm>
          <a:prstGeom prst="rect">
            <a:avLst/>
          </a:prstGeom>
          <a:solidFill>
            <a:srgbClr val="3A86FF"/>
          </a:solidFill>
          <a:ln w="12700">
            <a:solidFill>
              <a:srgbClr val="3A86FF"/>
            </a:solidFill>
            <a:prstDash val="solid"/>
          </a:ln>
        </p:spPr>
      </p:sp>
      <p:sp>
        <p:nvSpPr>
          <p:cNvPr id="7" name="Text 5"/>
          <p:cNvSpPr/>
          <p:nvPr/>
        </p:nvSpPr>
        <p:spPr>
          <a:xfrm>
            <a:off x="502920" y="1051560"/>
            <a:ext cx="3840480" cy="365760"/>
          </a:xfrm>
          <a:prstGeom prst="rect">
            <a:avLst/>
          </a:prstGeom>
          <a:noFill/>
          <a:ln/>
        </p:spPr>
        <p:txBody>
          <a:bodyPr wrap="square"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Time Management &amp; Academic Success [1]</a:t>
            </a:r>
            <a:endParaRPr lang="en-US" sz="1250" dirty="0"/>
          </a:p>
        </p:txBody>
      </p:sp>
      <p:sp>
        <p:nvSpPr>
          <p:cNvPr id="8" name="Text 6"/>
          <p:cNvSpPr/>
          <p:nvPr/>
        </p:nvSpPr>
        <p:spPr>
          <a:xfrm>
            <a:off x="502920" y="1463040"/>
            <a:ext cx="3840480" cy="114300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Britton &amp; Tesser (1991) demonstrated that structured study habits directly improve college grades — validating the core scheduling feature of the application.</a:t>
            </a:r>
            <a:endParaRPr lang="en-US" sz="1100" dirty="0"/>
          </a:p>
        </p:txBody>
      </p:sp>
      <p:sp>
        <p:nvSpPr>
          <p:cNvPr id="9" name="Shape 7"/>
          <p:cNvSpPr/>
          <p:nvPr/>
        </p:nvSpPr>
        <p:spPr>
          <a:xfrm>
            <a:off x="4709160" y="960120"/>
            <a:ext cx="4206240" cy="1737360"/>
          </a:xfrm>
          <a:prstGeom prst="rect">
            <a:avLst/>
          </a:prstGeom>
          <a:solidFill>
            <a:srgbClr val="FFFFFF"/>
          </a:solidFill>
          <a:ln w="12700">
            <a:solidFill>
              <a:srgbClr val="E5E7EB"/>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4709160" y="960120"/>
            <a:ext cx="64008" cy="1737360"/>
          </a:xfrm>
          <a:prstGeom prst="rect">
            <a:avLst/>
          </a:prstGeom>
          <a:solidFill>
            <a:srgbClr val="6A4C93"/>
          </a:solidFill>
          <a:ln w="12700">
            <a:solidFill>
              <a:srgbClr val="6A4C93"/>
            </a:solidFill>
            <a:prstDash val="solid"/>
          </a:ln>
        </p:spPr>
      </p:sp>
      <p:sp>
        <p:nvSpPr>
          <p:cNvPr id="11" name="Text 9"/>
          <p:cNvSpPr/>
          <p:nvPr/>
        </p:nvSpPr>
        <p:spPr>
          <a:xfrm>
            <a:off x="4937760" y="1051560"/>
            <a:ext cx="3840480" cy="365760"/>
          </a:xfrm>
          <a:prstGeom prst="rect">
            <a:avLst/>
          </a:prstGeom>
          <a:noFill/>
          <a:ln/>
        </p:spPr>
        <p:txBody>
          <a:bodyPr wrap="square"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Collaborative Learning [4]</a:t>
            </a:r>
            <a:endParaRPr lang="en-US" sz="1250" dirty="0"/>
          </a:p>
        </p:txBody>
      </p:sp>
      <p:sp>
        <p:nvSpPr>
          <p:cNvPr id="12" name="Text 10"/>
          <p:cNvSpPr/>
          <p:nvPr/>
        </p:nvSpPr>
        <p:spPr>
          <a:xfrm>
            <a:off x="4937760" y="1463040"/>
            <a:ext cx="3840480" cy="114300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Dillenbourg (1994) established that collaborative learning is most effective when students interact in structured groups with complementary skills — the direct basis for AI-based matching.</a:t>
            </a:r>
            <a:endParaRPr lang="en-US" sz="1100" dirty="0"/>
          </a:p>
        </p:txBody>
      </p:sp>
      <p:sp>
        <p:nvSpPr>
          <p:cNvPr id="13" name="Shape 11"/>
          <p:cNvSpPr/>
          <p:nvPr/>
        </p:nvSpPr>
        <p:spPr>
          <a:xfrm>
            <a:off x="274320" y="2880360"/>
            <a:ext cx="4206240" cy="1737360"/>
          </a:xfrm>
          <a:prstGeom prst="rect">
            <a:avLst/>
          </a:prstGeom>
          <a:solidFill>
            <a:srgbClr val="FFFFFF"/>
          </a:solidFill>
          <a:ln w="12700">
            <a:solidFill>
              <a:srgbClr val="E5E7EB"/>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274320" y="2880360"/>
            <a:ext cx="64008" cy="1737360"/>
          </a:xfrm>
          <a:prstGeom prst="rect">
            <a:avLst/>
          </a:prstGeom>
          <a:solidFill>
            <a:srgbClr val="2D6A4F"/>
          </a:solidFill>
          <a:ln w="12700">
            <a:solidFill>
              <a:srgbClr val="2D6A4F"/>
            </a:solidFill>
            <a:prstDash val="solid"/>
          </a:ln>
        </p:spPr>
      </p:sp>
      <p:sp>
        <p:nvSpPr>
          <p:cNvPr id="15" name="Text 13"/>
          <p:cNvSpPr/>
          <p:nvPr/>
        </p:nvSpPr>
        <p:spPr>
          <a:xfrm>
            <a:off x="502920" y="2971800"/>
            <a:ext cx="3840480" cy="365760"/>
          </a:xfrm>
          <a:prstGeom prst="rect">
            <a:avLst/>
          </a:prstGeom>
          <a:noFill/>
          <a:ln/>
        </p:spPr>
        <p:txBody>
          <a:bodyPr wrap="square"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Educational Data Mining [3]</a:t>
            </a:r>
            <a:endParaRPr lang="en-US" sz="1250" dirty="0"/>
          </a:p>
        </p:txBody>
      </p:sp>
      <p:sp>
        <p:nvSpPr>
          <p:cNvPr id="16" name="Text 14"/>
          <p:cNvSpPr/>
          <p:nvPr/>
        </p:nvSpPr>
        <p:spPr>
          <a:xfrm>
            <a:off x="502920" y="3383280"/>
            <a:ext cx="3840480" cy="114300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Romero &amp; Ventura (2020) show that personalised learning systems using student data improve educational outcomes — validating the use of self-assessment data for peer matching.</a:t>
            </a:r>
            <a:endParaRPr lang="en-US" sz="1100" dirty="0"/>
          </a:p>
        </p:txBody>
      </p:sp>
      <p:sp>
        <p:nvSpPr>
          <p:cNvPr id="17" name="Shape 15"/>
          <p:cNvSpPr/>
          <p:nvPr/>
        </p:nvSpPr>
        <p:spPr>
          <a:xfrm>
            <a:off x="4709160" y="2880360"/>
            <a:ext cx="4206240" cy="1737360"/>
          </a:xfrm>
          <a:prstGeom prst="rect">
            <a:avLst/>
          </a:prstGeom>
          <a:solidFill>
            <a:srgbClr val="FFFFFF"/>
          </a:solidFill>
          <a:ln w="12700">
            <a:solidFill>
              <a:srgbClr val="E5E7EB"/>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4709160" y="2880360"/>
            <a:ext cx="64008" cy="1737360"/>
          </a:xfrm>
          <a:prstGeom prst="rect">
            <a:avLst/>
          </a:prstGeom>
          <a:solidFill>
            <a:srgbClr val="C1121F"/>
          </a:solidFill>
          <a:ln w="12700">
            <a:solidFill>
              <a:srgbClr val="C1121F"/>
            </a:solidFill>
            <a:prstDash val="solid"/>
          </a:ln>
        </p:spPr>
      </p:sp>
      <p:sp>
        <p:nvSpPr>
          <p:cNvPr id="19" name="Text 17"/>
          <p:cNvSpPr/>
          <p:nvPr/>
        </p:nvSpPr>
        <p:spPr>
          <a:xfrm>
            <a:off x="4937760" y="2971800"/>
            <a:ext cx="3840480" cy="365760"/>
          </a:xfrm>
          <a:prstGeom prst="rect">
            <a:avLst/>
          </a:prstGeom>
          <a:noFill/>
          <a:ln/>
        </p:spPr>
        <p:txBody>
          <a:bodyPr wrap="square" rtlCol="0" anchor="ctr"/>
          <a:lstStyle/>
          <a:p>
            <a:pPr indent="0" marL="0">
              <a:buNone/>
            </a:pPr>
            <a:r>
              <a:rPr lang="en-US" sz="1250" b="1" dirty="0">
                <a:solidFill>
                  <a:srgbClr val="1A1A2E"/>
                </a:solidFill>
                <a:latin typeface="Calibri" pitchFamily="34" charset="0"/>
                <a:ea typeface="Calibri" pitchFamily="34" charset="-122"/>
                <a:cs typeface="Calibri" pitchFamily="34" charset="-120"/>
              </a:rPr>
              <a:t>The Research Gap</a:t>
            </a:r>
            <a:endParaRPr lang="en-US" sz="1250" dirty="0"/>
          </a:p>
        </p:txBody>
      </p:sp>
      <p:sp>
        <p:nvSpPr>
          <p:cNvPr id="20" name="Text 18"/>
          <p:cNvSpPr/>
          <p:nvPr/>
        </p:nvSpPr>
        <p:spPr>
          <a:xfrm>
            <a:off x="4937760" y="3383280"/>
            <a:ext cx="3840480" cy="114300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No existing system combines AI-driven peer matching with integrated personal study planning. Existing tools address scheduling or social connection in isolation — not both together intelligently.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3E"/>
          </a:solidFill>
          <a:ln w="12700">
            <a:solidFill>
              <a:srgbClr val="0D1B3E"/>
            </a:solidFill>
            <a:prstDash val="solid"/>
          </a:ln>
        </p:spPr>
      </p:sp>
      <p:sp>
        <p:nvSpPr>
          <p:cNvPr id="3" name="Text 1"/>
          <p:cNvSpPr/>
          <p:nvPr/>
        </p:nvSpPr>
        <p:spPr>
          <a:xfrm>
            <a:off x="365760" y="0"/>
            <a:ext cx="8229600" cy="50292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PROPOSED SOLUTION &amp; METHODOLOGY</a:t>
            </a:r>
            <a:endParaRPr lang="en-US" sz="1300" dirty="0"/>
          </a:p>
        </p:txBody>
      </p:sp>
      <p:sp>
        <p:nvSpPr>
          <p:cNvPr id="4" name="Text 2"/>
          <p:cNvSpPr/>
          <p:nvPr/>
        </p:nvSpPr>
        <p:spPr>
          <a:xfrm>
            <a:off x="365760" y="566928"/>
            <a:ext cx="8412480" cy="347472"/>
          </a:xfrm>
          <a:prstGeom prst="rect">
            <a:avLst/>
          </a:prstGeom>
          <a:noFill/>
          <a:ln/>
        </p:spPr>
        <p:txBody>
          <a:bodyPr wrap="square" lIns="0" tIns="0" rIns="0" bIns="0"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What StudyPlannerApp does and how it will be built</a:t>
            </a:r>
            <a:endParaRPr lang="en-US" sz="1100" dirty="0"/>
          </a:p>
        </p:txBody>
      </p:sp>
      <p:sp>
        <p:nvSpPr>
          <p:cNvPr id="5" name="Shape 3"/>
          <p:cNvSpPr/>
          <p:nvPr/>
        </p:nvSpPr>
        <p:spPr>
          <a:xfrm>
            <a:off x="274320" y="914400"/>
            <a:ext cx="8595360" cy="731520"/>
          </a:xfrm>
          <a:prstGeom prst="rect">
            <a:avLst/>
          </a:prstGeom>
          <a:solidFill>
            <a:srgbClr val="1E2761"/>
          </a:solidFill>
          <a:ln w="12700">
            <a:solidFill>
              <a:srgbClr val="1E2761"/>
            </a:solidFill>
            <a:prstDash val="solid"/>
          </a:ln>
        </p:spPr>
      </p:sp>
      <p:sp>
        <p:nvSpPr>
          <p:cNvPr id="6" name="Text 4"/>
          <p:cNvSpPr/>
          <p:nvPr/>
        </p:nvSpPr>
        <p:spPr>
          <a:xfrm>
            <a:off x="457200" y="914400"/>
            <a:ext cx="8229600" cy="7315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StudyPlannerApp is a web-based platform combining personal study scheduling with an AI peer-matching engine, built using Agile development across 4 sprints.</a:t>
            </a:r>
            <a:endParaRPr lang="en-US" sz="1200" dirty="0"/>
          </a:p>
        </p:txBody>
      </p:sp>
      <p:sp>
        <p:nvSpPr>
          <p:cNvPr id="7" name="Shape 5"/>
          <p:cNvSpPr/>
          <p:nvPr/>
        </p:nvSpPr>
        <p:spPr>
          <a:xfrm>
            <a:off x="274320" y="1874520"/>
            <a:ext cx="2011680" cy="306324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274320" y="1874520"/>
            <a:ext cx="2011680" cy="411480"/>
          </a:xfrm>
          <a:prstGeom prst="rect">
            <a:avLst/>
          </a:prstGeom>
          <a:solidFill>
            <a:srgbClr val="3A86FF"/>
          </a:solidFill>
          <a:ln w="12700">
            <a:solidFill>
              <a:srgbClr val="3A86FF"/>
            </a:solidFill>
            <a:prstDash val="solid"/>
          </a:ln>
        </p:spPr>
      </p:sp>
      <p:sp>
        <p:nvSpPr>
          <p:cNvPr id="9" name="Text 7"/>
          <p:cNvSpPr/>
          <p:nvPr/>
        </p:nvSpPr>
        <p:spPr>
          <a:xfrm>
            <a:off x="274320" y="1874520"/>
            <a:ext cx="20116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Sprint 1</a:t>
            </a:r>
            <a:endParaRPr lang="en-US" sz="1100" dirty="0"/>
          </a:p>
        </p:txBody>
      </p:sp>
      <p:sp>
        <p:nvSpPr>
          <p:cNvPr id="10" name="Text 8"/>
          <p:cNvSpPr/>
          <p:nvPr/>
        </p:nvSpPr>
        <p:spPr>
          <a:xfrm>
            <a:off x="274320" y="2304288"/>
            <a:ext cx="2011680" cy="274320"/>
          </a:xfrm>
          <a:prstGeom prst="rect">
            <a:avLst/>
          </a:prstGeom>
          <a:noFill/>
          <a:ln/>
        </p:spPr>
        <p:txBody>
          <a:bodyPr wrap="square" rtlCol="0" anchor="ctr"/>
          <a:lstStyle/>
          <a:p>
            <a:pPr algn="ctr" indent="0" marL="0">
              <a:buNone/>
            </a:pPr>
            <a:r>
              <a:rPr lang="en-US" sz="1000" i="1" dirty="0">
                <a:solidFill>
                  <a:srgbClr val="4A5568"/>
                </a:solidFill>
                <a:latin typeface="Calibri" pitchFamily="34" charset="0"/>
                <a:ea typeface="Calibri" pitchFamily="34" charset="-122"/>
                <a:cs typeface="Calibri" pitchFamily="34" charset="-120"/>
              </a:rPr>
              <a:t>Wk 3–5</a:t>
            </a:r>
            <a:endParaRPr lang="en-US" sz="1000" dirty="0"/>
          </a:p>
        </p:txBody>
      </p:sp>
      <p:sp>
        <p:nvSpPr>
          <p:cNvPr id="11" name="Text 9"/>
          <p:cNvSpPr/>
          <p:nvPr/>
        </p:nvSpPr>
        <p:spPr>
          <a:xfrm>
            <a:off x="365760" y="2606040"/>
            <a:ext cx="1828800" cy="411480"/>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Requirements &amp; Design</a:t>
            </a:r>
            <a:endParaRPr lang="en-US" sz="1200" dirty="0"/>
          </a:p>
        </p:txBody>
      </p:sp>
      <p:sp>
        <p:nvSpPr>
          <p:cNvPr id="12" name="Text 10"/>
          <p:cNvSpPr/>
          <p:nvPr/>
        </p:nvSpPr>
        <p:spPr>
          <a:xfrm>
            <a:off x="365760" y="3063240"/>
            <a:ext cx="1828800" cy="91440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User stories, wireframes, DB schema, AI model spec</a:t>
            </a:r>
            <a:endParaRPr lang="en-US" sz="1050" dirty="0"/>
          </a:p>
        </p:txBody>
      </p:sp>
      <p:sp>
        <p:nvSpPr>
          <p:cNvPr id="13" name="Shape 11"/>
          <p:cNvSpPr/>
          <p:nvPr/>
        </p:nvSpPr>
        <p:spPr>
          <a:xfrm>
            <a:off x="2450592" y="1874520"/>
            <a:ext cx="2011680" cy="306324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2450592" y="1874520"/>
            <a:ext cx="2011680" cy="411480"/>
          </a:xfrm>
          <a:prstGeom prst="rect">
            <a:avLst/>
          </a:prstGeom>
          <a:solidFill>
            <a:srgbClr val="6A4C93"/>
          </a:solidFill>
          <a:ln w="12700">
            <a:solidFill>
              <a:srgbClr val="6A4C93"/>
            </a:solidFill>
            <a:prstDash val="solid"/>
          </a:ln>
        </p:spPr>
      </p:sp>
      <p:sp>
        <p:nvSpPr>
          <p:cNvPr id="15" name="Text 13"/>
          <p:cNvSpPr/>
          <p:nvPr/>
        </p:nvSpPr>
        <p:spPr>
          <a:xfrm>
            <a:off x="2450592" y="1874520"/>
            <a:ext cx="20116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Sprint 2</a:t>
            </a:r>
            <a:endParaRPr lang="en-US" sz="1100" dirty="0"/>
          </a:p>
        </p:txBody>
      </p:sp>
      <p:sp>
        <p:nvSpPr>
          <p:cNvPr id="16" name="Text 14"/>
          <p:cNvSpPr/>
          <p:nvPr/>
        </p:nvSpPr>
        <p:spPr>
          <a:xfrm>
            <a:off x="2450592" y="2304288"/>
            <a:ext cx="2011680" cy="274320"/>
          </a:xfrm>
          <a:prstGeom prst="rect">
            <a:avLst/>
          </a:prstGeom>
          <a:noFill/>
          <a:ln/>
        </p:spPr>
        <p:txBody>
          <a:bodyPr wrap="square" rtlCol="0" anchor="ctr"/>
          <a:lstStyle/>
          <a:p>
            <a:pPr algn="ctr" indent="0" marL="0">
              <a:buNone/>
            </a:pPr>
            <a:r>
              <a:rPr lang="en-US" sz="1000" i="1" dirty="0">
                <a:solidFill>
                  <a:srgbClr val="4A5568"/>
                </a:solidFill>
                <a:latin typeface="Calibri" pitchFamily="34" charset="0"/>
                <a:ea typeface="Calibri" pitchFamily="34" charset="-122"/>
                <a:cs typeface="Calibri" pitchFamily="34" charset="-120"/>
              </a:rPr>
              <a:t>Wk 6–8</a:t>
            </a:r>
            <a:endParaRPr lang="en-US" sz="1000" dirty="0"/>
          </a:p>
        </p:txBody>
      </p:sp>
      <p:sp>
        <p:nvSpPr>
          <p:cNvPr id="17" name="Text 15"/>
          <p:cNvSpPr/>
          <p:nvPr/>
        </p:nvSpPr>
        <p:spPr>
          <a:xfrm>
            <a:off x="2542032" y="2606040"/>
            <a:ext cx="1828800" cy="411480"/>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Core Development</a:t>
            </a:r>
            <a:endParaRPr lang="en-US" sz="1200" dirty="0"/>
          </a:p>
        </p:txBody>
      </p:sp>
      <p:sp>
        <p:nvSpPr>
          <p:cNvPr id="18" name="Text 16"/>
          <p:cNvSpPr/>
          <p:nvPr/>
        </p:nvSpPr>
        <p:spPr>
          <a:xfrm>
            <a:off x="2542032" y="3063240"/>
            <a:ext cx="1828800" cy="91440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User auth, study scheduler, backend API</a:t>
            </a:r>
            <a:endParaRPr lang="en-US" sz="1050" dirty="0"/>
          </a:p>
        </p:txBody>
      </p:sp>
      <p:sp>
        <p:nvSpPr>
          <p:cNvPr id="19" name="Shape 17"/>
          <p:cNvSpPr/>
          <p:nvPr/>
        </p:nvSpPr>
        <p:spPr>
          <a:xfrm>
            <a:off x="4626864" y="1874520"/>
            <a:ext cx="2011680" cy="306324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4626864" y="1874520"/>
            <a:ext cx="2011680" cy="411480"/>
          </a:xfrm>
          <a:prstGeom prst="rect">
            <a:avLst/>
          </a:prstGeom>
          <a:solidFill>
            <a:srgbClr val="2D6A4F"/>
          </a:solidFill>
          <a:ln w="12700">
            <a:solidFill>
              <a:srgbClr val="2D6A4F"/>
            </a:solidFill>
            <a:prstDash val="solid"/>
          </a:ln>
        </p:spPr>
      </p:sp>
      <p:sp>
        <p:nvSpPr>
          <p:cNvPr id="21" name="Text 19"/>
          <p:cNvSpPr/>
          <p:nvPr/>
        </p:nvSpPr>
        <p:spPr>
          <a:xfrm>
            <a:off x="4626864" y="1874520"/>
            <a:ext cx="20116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Sprint 3</a:t>
            </a:r>
            <a:endParaRPr lang="en-US" sz="1100" dirty="0"/>
          </a:p>
        </p:txBody>
      </p:sp>
      <p:sp>
        <p:nvSpPr>
          <p:cNvPr id="22" name="Text 20"/>
          <p:cNvSpPr/>
          <p:nvPr/>
        </p:nvSpPr>
        <p:spPr>
          <a:xfrm>
            <a:off x="4626864" y="2304288"/>
            <a:ext cx="2011680" cy="274320"/>
          </a:xfrm>
          <a:prstGeom prst="rect">
            <a:avLst/>
          </a:prstGeom>
          <a:noFill/>
          <a:ln/>
        </p:spPr>
        <p:txBody>
          <a:bodyPr wrap="square" rtlCol="0" anchor="ctr"/>
          <a:lstStyle/>
          <a:p>
            <a:pPr algn="ctr" indent="0" marL="0">
              <a:buNone/>
            </a:pPr>
            <a:r>
              <a:rPr lang="en-US" sz="1000" i="1" dirty="0">
                <a:solidFill>
                  <a:srgbClr val="4A5568"/>
                </a:solidFill>
                <a:latin typeface="Calibri" pitchFamily="34" charset="0"/>
                <a:ea typeface="Calibri" pitchFamily="34" charset="-122"/>
                <a:cs typeface="Calibri" pitchFamily="34" charset="-120"/>
              </a:rPr>
              <a:t>Wk 8–10</a:t>
            </a:r>
            <a:endParaRPr lang="en-US" sz="1000" dirty="0"/>
          </a:p>
        </p:txBody>
      </p:sp>
      <p:sp>
        <p:nvSpPr>
          <p:cNvPr id="23" name="Text 21"/>
          <p:cNvSpPr/>
          <p:nvPr/>
        </p:nvSpPr>
        <p:spPr>
          <a:xfrm>
            <a:off x="4718304" y="2606040"/>
            <a:ext cx="1828800" cy="411480"/>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AI &amp; GroupStudy</a:t>
            </a:r>
            <a:endParaRPr lang="en-US" sz="1200" dirty="0"/>
          </a:p>
        </p:txBody>
      </p:sp>
      <p:sp>
        <p:nvSpPr>
          <p:cNvPr id="24" name="Text 22"/>
          <p:cNvSpPr/>
          <p:nvPr/>
        </p:nvSpPr>
        <p:spPr>
          <a:xfrm>
            <a:off x="4718304" y="3063240"/>
            <a:ext cx="1828800" cy="91440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AI matching model, GroupStudy feature, frontend UI</a:t>
            </a:r>
            <a:endParaRPr lang="en-US" sz="1050" dirty="0"/>
          </a:p>
        </p:txBody>
      </p:sp>
      <p:sp>
        <p:nvSpPr>
          <p:cNvPr id="25" name="Shape 23"/>
          <p:cNvSpPr/>
          <p:nvPr/>
        </p:nvSpPr>
        <p:spPr>
          <a:xfrm>
            <a:off x="6803136" y="1874520"/>
            <a:ext cx="2011680" cy="306324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6803136" y="1874520"/>
            <a:ext cx="2011680" cy="411480"/>
          </a:xfrm>
          <a:prstGeom prst="rect">
            <a:avLst/>
          </a:prstGeom>
          <a:solidFill>
            <a:srgbClr val="E9C46A"/>
          </a:solidFill>
          <a:ln w="12700">
            <a:solidFill>
              <a:srgbClr val="E9C46A"/>
            </a:solidFill>
            <a:prstDash val="solid"/>
          </a:ln>
        </p:spPr>
      </p:sp>
      <p:sp>
        <p:nvSpPr>
          <p:cNvPr id="27" name="Text 25"/>
          <p:cNvSpPr/>
          <p:nvPr/>
        </p:nvSpPr>
        <p:spPr>
          <a:xfrm>
            <a:off x="6803136" y="1874520"/>
            <a:ext cx="20116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Sprint 4</a:t>
            </a:r>
            <a:endParaRPr lang="en-US" sz="1100" dirty="0"/>
          </a:p>
        </p:txBody>
      </p:sp>
      <p:sp>
        <p:nvSpPr>
          <p:cNvPr id="28" name="Text 26"/>
          <p:cNvSpPr/>
          <p:nvPr/>
        </p:nvSpPr>
        <p:spPr>
          <a:xfrm>
            <a:off x="6803136" y="2304288"/>
            <a:ext cx="2011680" cy="274320"/>
          </a:xfrm>
          <a:prstGeom prst="rect">
            <a:avLst/>
          </a:prstGeom>
          <a:noFill/>
          <a:ln/>
        </p:spPr>
        <p:txBody>
          <a:bodyPr wrap="square" rtlCol="0" anchor="ctr"/>
          <a:lstStyle/>
          <a:p>
            <a:pPr algn="ctr" indent="0" marL="0">
              <a:buNone/>
            </a:pPr>
            <a:r>
              <a:rPr lang="en-US" sz="1000" i="1" dirty="0">
                <a:solidFill>
                  <a:srgbClr val="4A5568"/>
                </a:solidFill>
                <a:latin typeface="Calibri" pitchFamily="34" charset="0"/>
                <a:ea typeface="Calibri" pitchFamily="34" charset="-122"/>
                <a:cs typeface="Calibri" pitchFamily="34" charset="-120"/>
              </a:rPr>
              <a:t>Wk 11–13</a:t>
            </a:r>
            <a:endParaRPr lang="en-US" sz="1000" dirty="0"/>
          </a:p>
        </p:txBody>
      </p:sp>
      <p:sp>
        <p:nvSpPr>
          <p:cNvPr id="29" name="Text 27"/>
          <p:cNvSpPr/>
          <p:nvPr/>
        </p:nvSpPr>
        <p:spPr>
          <a:xfrm>
            <a:off x="6894576" y="2606040"/>
            <a:ext cx="1828800" cy="411480"/>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Testing &amp; Evaluation</a:t>
            </a:r>
            <a:endParaRPr lang="en-US" sz="1200" dirty="0"/>
          </a:p>
        </p:txBody>
      </p:sp>
      <p:sp>
        <p:nvSpPr>
          <p:cNvPr id="30" name="Text 28"/>
          <p:cNvSpPr/>
          <p:nvPr/>
        </p:nvSpPr>
        <p:spPr>
          <a:xfrm>
            <a:off x="6894576" y="3063240"/>
            <a:ext cx="1828800" cy="91440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User testing (20+ students), iteration, bug fixes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3E"/>
          </a:solidFill>
          <a:ln w="12700">
            <a:solidFill>
              <a:srgbClr val="0D1B3E"/>
            </a:solidFill>
            <a:prstDash val="solid"/>
          </a:ln>
        </p:spPr>
      </p:sp>
      <p:sp>
        <p:nvSpPr>
          <p:cNvPr id="3" name="Text 1"/>
          <p:cNvSpPr/>
          <p:nvPr/>
        </p:nvSpPr>
        <p:spPr>
          <a:xfrm>
            <a:off x="365760" y="0"/>
            <a:ext cx="8229600" cy="50292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SYSTEM DESIGN &amp; ARCHITECTURE</a:t>
            </a:r>
            <a:endParaRPr lang="en-US" sz="1300" dirty="0"/>
          </a:p>
        </p:txBody>
      </p:sp>
      <p:sp>
        <p:nvSpPr>
          <p:cNvPr id="4" name="Text 2"/>
          <p:cNvSpPr/>
          <p:nvPr/>
        </p:nvSpPr>
        <p:spPr>
          <a:xfrm>
            <a:off x="365760" y="566928"/>
            <a:ext cx="8412480" cy="347472"/>
          </a:xfrm>
          <a:prstGeom prst="rect">
            <a:avLst/>
          </a:prstGeom>
          <a:noFill/>
          <a:ln/>
        </p:spPr>
        <p:txBody>
          <a:bodyPr wrap="square" lIns="0" tIns="0" rIns="0" bIns="0"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Three-tier architecture: Frontend → Backend API → Database &amp; AI Module</a:t>
            </a:r>
            <a:endParaRPr lang="en-US" sz="1100" dirty="0"/>
          </a:p>
        </p:txBody>
      </p:sp>
      <p:sp>
        <p:nvSpPr>
          <p:cNvPr id="5" name="Shape 3"/>
          <p:cNvSpPr/>
          <p:nvPr/>
        </p:nvSpPr>
        <p:spPr>
          <a:xfrm>
            <a:off x="274320" y="914400"/>
            <a:ext cx="2743200" cy="402336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74320" y="914400"/>
            <a:ext cx="2743200" cy="640080"/>
          </a:xfrm>
          <a:prstGeom prst="rect">
            <a:avLst/>
          </a:prstGeom>
          <a:solidFill>
            <a:srgbClr val="3A86FF"/>
          </a:solidFill>
          <a:ln w="12700">
            <a:solidFill>
              <a:srgbClr val="3A86FF"/>
            </a:solidFill>
            <a:prstDash val="solid"/>
          </a:ln>
        </p:spPr>
      </p:sp>
      <p:sp>
        <p:nvSpPr>
          <p:cNvPr id="7" name="Text 5"/>
          <p:cNvSpPr/>
          <p:nvPr/>
        </p:nvSpPr>
        <p:spPr>
          <a:xfrm>
            <a:off x="365760" y="914400"/>
            <a:ext cx="25603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Frontend</a:t>
            </a:r>
            <a:endParaRPr lang="en-US" sz="1400" dirty="0"/>
          </a:p>
        </p:txBody>
      </p:sp>
      <p:sp>
        <p:nvSpPr>
          <p:cNvPr id="8" name="Text 6"/>
          <p:cNvSpPr/>
          <p:nvPr/>
        </p:nvSpPr>
        <p:spPr>
          <a:xfrm>
            <a:off x="365760" y="1280160"/>
            <a:ext cx="2560320" cy="274320"/>
          </a:xfrm>
          <a:prstGeom prst="rect">
            <a:avLst/>
          </a:prstGeom>
          <a:noFill/>
          <a:ln/>
        </p:spPr>
        <p:txBody>
          <a:bodyPr wrap="square" lIns="0" tIns="0" rIns="0" bIns="0" rtlCol="0" anchor="ctr"/>
          <a:lstStyle/>
          <a:p>
            <a:pPr indent="0" marL="0">
              <a:buNone/>
            </a:pPr>
            <a:r>
              <a:rPr lang="en-US" sz="1000" i="1" dirty="0">
                <a:solidFill>
                  <a:srgbClr val="DBEAFE"/>
                </a:solidFill>
                <a:latin typeface="Calibri" pitchFamily="34" charset="0"/>
                <a:ea typeface="Calibri" pitchFamily="34" charset="-122"/>
                <a:cs typeface="Calibri" pitchFamily="34" charset="-120"/>
              </a:rPr>
              <a:t>React.js</a:t>
            </a:r>
            <a:endParaRPr lang="en-US" sz="1000" dirty="0"/>
          </a:p>
        </p:txBody>
      </p:sp>
      <p:sp>
        <p:nvSpPr>
          <p:cNvPr id="9" name="Shape 7"/>
          <p:cNvSpPr/>
          <p:nvPr/>
        </p:nvSpPr>
        <p:spPr>
          <a:xfrm>
            <a:off x="411480" y="1691640"/>
            <a:ext cx="2468880" cy="457200"/>
          </a:xfrm>
          <a:prstGeom prst="rect">
            <a:avLst/>
          </a:prstGeom>
          <a:solidFill>
            <a:srgbClr val="EEF2FF"/>
          </a:solidFill>
          <a:ln w="12700">
            <a:solidFill>
              <a:srgbClr val="DBEAFE"/>
            </a:solidFill>
            <a:prstDash val="solid"/>
          </a:ln>
        </p:spPr>
      </p:sp>
      <p:sp>
        <p:nvSpPr>
          <p:cNvPr id="10" name="Text 8"/>
          <p:cNvSpPr/>
          <p:nvPr/>
        </p:nvSpPr>
        <p:spPr>
          <a:xfrm>
            <a:off x="502920" y="1691640"/>
            <a:ext cx="2286000" cy="4572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Study Schedule UI</a:t>
            </a:r>
            <a:endParaRPr lang="en-US" sz="1100" dirty="0"/>
          </a:p>
        </p:txBody>
      </p:sp>
      <p:sp>
        <p:nvSpPr>
          <p:cNvPr id="11" name="Shape 9"/>
          <p:cNvSpPr/>
          <p:nvPr/>
        </p:nvSpPr>
        <p:spPr>
          <a:xfrm>
            <a:off x="411480" y="2258568"/>
            <a:ext cx="2468880" cy="457200"/>
          </a:xfrm>
          <a:prstGeom prst="rect">
            <a:avLst/>
          </a:prstGeom>
          <a:solidFill>
            <a:srgbClr val="EEF2FF"/>
          </a:solidFill>
          <a:ln w="12700">
            <a:solidFill>
              <a:srgbClr val="DBEAFE"/>
            </a:solidFill>
            <a:prstDash val="solid"/>
          </a:ln>
        </p:spPr>
      </p:sp>
      <p:sp>
        <p:nvSpPr>
          <p:cNvPr id="12" name="Text 10"/>
          <p:cNvSpPr/>
          <p:nvPr/>
        </p:nvSpPr>
        <p:spPr>
          <a:xfrm>
            <a:off x="502920" y="2258568"/>
            <a:ext cx="2286000" cy="4572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GroupStudy Dashboard</a:t>
            </a:r>
            <a:endParaRPr lang="en-US" sz="1100" dirty="0"/>
          </a:p>
        </p:txBody>
      </p:sp>
      <p:sp>
        <p:nvSpPr>
          <p:cNvPr id="13" name="Shape 11"/>
          <p:cNvSpPr/>
          <p:nvPr/>
        </p:nvSpPr>
        <p:spPr>
          <a:xfrm>
            <a:off x="411480" y="2825496"/>
            <a:ext cx="2468880" cy="457200"/>
          </a:xfrm>
          <a:prstGeom prst="rect">
            <a:avLst/>
          </a:prstGeom>
          <a:solidFill>
            <a:srgbClr val="EEF2FF"/>
          </a:solidFill>
          <a:ln w="12700">
            <a:solidFill>
              <a:srgbClr val="DBEAFE"/>
            </a:solidFill>
            <a:prstDash val="solid"/>
          </a:ln>
        </p:spPr>
      </p:sp>
      <p:sp>
        <p:nvSpPr>
          <p:cNvPr id="14" name="Text 12"/>
          <p:cNvSpPr/>
          <p:nvPr/>
        </p:nvSpPr>
        <p:spPr>
          <a:xfrm>
            <a:off x="502920" y="2825496"/>
            <a:ext cx="2286000" cy="4572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Matching Results View</a:t>
            </a:r>
            <a:endParaRPr lang="en-US" sz="1100" dirty="0"/>
          </a:p>
        </p:txBody>
      </p:sp>
      <p:sp>
        <p:nvSpPr>
          <p:cNvPr id="15" name="Shape 13"/>
          <p:cNvSpPr/>
          <p:nvPr/>
        </p:nvSpPr>
        <p:spPr>
          <a:xfrm>
            <a:off x="411480" y="3392424"/>
            <a:ext cx="2468880" cy="457200"/>
          </a:xfrm>
          <a:prstGeom prst="rect">
            <a:avLst/>
          </a:prstGeom>
          <a:solidFill>
            <a:srgbClr val="EEF2FF"/>
          </a:solidFill>
          <a:ln w="12700">
            <a:solidFill>
              <a:srgbClr val="DBEAFE"/>
            </a:solidFill>
            <a:prstDash val="solid"/>
          </a:ln>
        </p:spPr>
      </p:sp>
      <p:sp>
        <p:nvSpPr>
          <p:cNvPr id="16" name="Text 14"/>
          <p:cNvSpPr/>
          <p:nvPr/>
        </p:nvSpPr>
        <p:spPr>
          <a:xfrm>
            <a:off x="502920" y="3392424"/>
            <a:ext cx="2286000" cy="4572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User Profile &amp; Auth</a:t>
            </a:r>
            <a:endParaRPr lang="en-US" sz="1100" dirty="0"/>
          </a:p>
        </p:txBody>
      </p:sp>
      <p:sp>
        <p:nvSpPr>
          <p:cNvPr id="17" name="Shape 15"/>
          <p:cNvSpPr/>
          <p:nvPr/>
        </p:nvSpPr>
        <p:spPr>
          <a:xfrm>
            <a:off x="3017520" y="2926080"/>
            <a:ext cx="155448" cy="0"/>
          </a:xfrm>
          <a:prstGeom prst="line">
            <a:avLst/>
          </a:prstGeom>
          <a:noFill/>
          <a:ln w="25400">
            <a:solidFill>
              <a:srgbClr val="1E2761"/>
            </a:solidFill>
            <a:prstDash val="solid"/>
          </a:ln>
        </p:spPr>
      </p:sp>
      <p:sp>
        <p:nvSpPr>
          <p:cNvPr id="18" name="Shape 16"/>
          <p:cNvSpPr/>
          <p:nvPr/>
        </p:nvSpPr>
        <p:spPr>
          <a:xfrm>
            <a:off x="3172968" y="914400"/>
            <a:ext cx="2743200" cy="402336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3172968" y="914400"/>
            <a:ext cx="2743200" cy="640080"/>
          </a:xfrm>
          <a:prstGeom prst="rect">
            <a:avLst/>
          </a:prstGeom>
          <a:solidFill>
            <a:srgbClr val="6A4C93"/>
          </a:solidFill>
          <a:ln w="12700">
            <a:solidFill>
              <a:srgbClr val="6A4C93"/>
            </a:solidFill>
            <a:prstDash val="solid"/>
          </a:ln>
        </p:spPr>
      </p:sp>
      <p:sp>
        <p:nvSpPr>
          <p:cNvPr id="20" name="Text 18"/>
          <p:cNvSpPr/>
          <p:nvPr/>
        </p:nvSpPr>
        <p:spPr>
          <a:xfrm>
            <a:off x="3264408" y="914400"/>
            <a:ext cx="25603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Backend API</a:t>
            </a:r>
            <a:endParaRPr lang="en-US" sz="1400" dirty="0"/>
          </a:p>
        </p:txBody>
      </p:sp>
      <p:sp>
        <p:nvSpPr>
          <p:cNvPr id="21" name="Text 19"/>
          <p:cNvSpPr/>
          <p:nvPr/>
        </p:nvSpPr>
        <p:spPr>
          <a:xfrm>
            <a:off x="3264408" y="1280160"/>
            <a:ext cx="2560320" cy="274320"/>
          </a:xfrm>
          <a:prstGeom prst="rect">
            <a:avLst/>
          </a:prstGeom>
          <a:noFill/>
          <a:ln/>
        </p:spPr>
        <p:txBody>
          <a:bodyPr wrap="square" lIns="0" tIns="0" rIns="0" bIns="0" rtlCol="0" anchor="ctr"/>
          <a:lstStyle/>
          <a:p>
            <a:pPr indent="0" marL="0">
              <a:buNone/>
            </a:pPr>
            <a:r>
              <a:rPr lang="en-US" sz="1000" i="1" dirty="0">
                <a:solidFill>
                  <a:srgbClr val="DBEAFE"/>
                </a:solidFill>
                <a:latin typeface="Calibri" pitchFamily="34" charset="0"/>
                <a:ea typeface="Calibri" pitchFamily="34" charset="-122"/>
                <a:cs typeface="Calibri" pitchFamily="34" charset="-120"/>
              </a:rPr>
              <a:t>Django REST Framework</a:t>
            </a:r>
            <a:endParaRPr lang="en-US" sz="1000" dirty="0"/>
          </a:p>
        </p:txBody>
      </p:sp>
      <p:sp>
        <p:nvSpPr>
          <p:cNvPr id="22" name="Shape 20"/>
          <p:cNvSpPr/>
          <p:nvPr/>
        </p:nvSpPr>
        <p:spPr>
          <a:xfrm>
            <a:off x="3310128" y="1691640"/>
            <a:ext cx="2468880" cy="457200"/>
          </a:xfrm>
          <a:prstGeom prst="rect">
            <a:avLst/>
          </a:prstGeom>
          <a:solidFill>
            <a:srgbClr val="EEF2FF"/>
          </a:solidFill>
          <a:ln w="12700">
            <a:solidFill>
              <a:srgbClr val="DBEAFE"/>
            </a:solidFill>
            <a:prstDash val="solid"/>
          </a:ln>
        </p:spPr>
      </p:sp>
      <p:sp>
        <p:nvSpPr>
          <p:cNvPr id="23" name="Text 21"/>
          <p:cNvSpPr/>
          <p:nvPr/>
        </p:nvSpPr>
        <p:spPr>
          <a:xfrm>
            <a:off x="3401568" y="1691640"/>
            <a:ext cx="2286000" cy="4572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Schedule Controller</a:t>
            </a:r>
            <a:endParaRPr lang="en-US" sz="1100" dirty="0"/>
          </a:p>
        </p:txBody>
      </p:sp>
      <p:sp>
        <p:nvSpPr>
          <p:cNvPr id="24" name="Shape 22"/>
          <p:cNvSpPr/>
          <p:nvPr/>
        </p:nvSpPr>
        <p:spPr>
          <a:xfrm>
            <a:off x="3310128" y="2258568"/>
            <a:ext cx="2468880" cy="457200"/>
          </a:xfrm>
          <a:prstGeom prst="rect">
            <a:avLst/>
          </a:prstGeom>
          <a:solidFill>
            <a:srgbClr val="EEF2FF"/>
          </a:solidFill>
          <a:ln w="12700">
            <a:solidFill>
              <a:srgbClr val="DBEAFE"/>
            </a:solidFill>
            <a:prstDash val="solid"/>
          </a:ln>
        </p:spPr>
      </p:sp>
      <p:sp>
        <p:nvSpPr>
          <p:cNvPr id="25" name="Text 23"/>
          <p:cNvSpPr/>
          <p:nvPr/>
        </p:nvSpPr>
        <p:spPr>
          <a:xfrm>
            <a:off x="3401568" y="2258568"/>
            <a:ext cx="2286000" cy="4572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GroupStudy Manager</a:t>
            </a:r>
            <a:endParaRPr lang="en-US" sz="1100" dirty="0"/>
          </a:p>
        </p:txBody>
      </p:sp>
      <p:sp>
        <p:nvSpPr>
          <p:cNvPr id="26" name="Shape 24"/>
          <p:cNvSpPr/>
          <p:nvPr/>
        </p:nvSpPr>
        <p:spPr>
          <a:xfrm>
            <a:off x="3310128" y="2825496"/>
            <a:ext cx="2468880" cy="457200"/>
          </a:xfrm>
          <a:prstGeom prst="rect">
            <a:avLst/>
          </a:prstGeom>
          <a:solidFill>
            <a:srgbClr val="EEF2FF"/>
          </a:solidFill>
          <a:ln w="12700">
            <a:solidFill>
              <a:srgbClr val="DBEAFE"/>
            </a:solidFill>
            <a:prstDash val="solid"/>
          </a:ln>
        </p:spPr>
      </p:sp>
      <p:sp>
        <p:nvSpPr>
          <p:cNvPr id="27" name="Text 25"/>
          <p:cNvSpPr/>
          <p:nvPr/>
        </p:nvSpPr>
        <p:spPr>
          <a:xfrm>
            <a:off x="3401568" y="2825496"/>
            <a:ext cx="2286000" cy="4572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User Service</a:t>
            </a:r>
            <a:endParaRPr lang="en-US" sz="1100" dirty="0"/>
          </a:p>
        </p:txBody>
      </p:sp>
      <p:sp>
        <p:nvSpPr>
          <p:cNvPr id="28" name="Shape 26"/>
          <p:cNvSpPr/>
          <p:nvPr/>
        </p:nvSpPr>
        <p:spPr>
          <a:xfrm>
            <a:off x="3310128" y="3392424"/>
            <a:ext cx="2468880" cy="457200"/>
          </a:xfrm>
          <a:prstGeom prst="rect">
            <a:avLst/>
          </a:prstGeom>
          <a:solidFill>
            <a:srgbClr val="EEF2FF"/>
          </a:solidFill>
          <a:ln w="12700">
            <a:solidFill>
              <a:srgbClr val="DBEAFE"/>
            </a:solidFill>
            <a:prstDash val="solid"/>
          </a:ln>
        </p:spPr>
      </p:sp>
      <p:sp>
        <p:nvSpPr>
          <p:cNvPr id="29" name="Text 27"/>
          <p:cNvSpPr/>
          <p:nvPr/>
        </p:nvSpPr>
        <p:spPr>
          <a:xfrm>
            <a:off x="3401568" y="3392424"/>
            <a:ext cx="2286000" cy="4572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AI Matching Service</a:t>
            </a:r>
            <a:endParaRPr lang="en-US" sz="1100" dirty="0"/>
          </a:p>
        </p:txBody>
      </p:sp>
      <p:sp>
        <p:nvSpPr>
          <p:cNvPr id="30" name="Shape 28"/>
          <p:cNvSpPr/>
          <p:nvPr/>
        </p:nvSpPr>
        <p:spPr>
          <a:xfrm>
            <a:off x="5916168" y="2926080"/>
            <a:ext cx="155448" cy="0"/>
          </a:xfrm>
          <a:prstGeom prst="line">
            <a:avLst/>
          </a:prstGeom>
          <a:noFill/>
          <a:ln w="25400">
            <a:solidFill>
              <a:srgbClr val="1E2761"/>
            </a:solidFill>
            <a:prstDash val="solid"/>
          </a:ln>
        </p:spPr>
      </p:sp>
      <p:sp>
        <p:nvSpPr>
          <p:cNvPr id="31" name="Shape 29"/>
          <p:cNvSpPr/>
          <p:nvPr/>
        </p:nvSpPr>
        <p:spPr>
          <a:xfrm>
            <a:off x="6071616" y="914400"/>
            <a:ext cx="2743200" cy="402336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6071616" y="914400"/>
            <a:ext cx="2743200" cy="640080"/>
          </a:xfrm>
          <a:prstGeom prst="rect">
            <a:avLst/>
          </a:prstGeom>
          <a:solidFill>
            <a:srgbClr val="2D6A4F"/>
          </a:solidFill>
          <a:ln w="12700">
            <a:solidFill>
              <a:srgbClr val="2D6A4F"/>
            </a:solidFill>
            <a:prstDash val="solid"/>
          </a:ln>
        </p:spPr>
      </p:sp>
      <p:sp>
        <p:nvSpPr>
          <p:cNvPr id="33" name="Text 31"/>
          <p:cNvSpPr/>
          <p:nvPr/>
        </p:nvSpPr>
        <p:spPr>
          <a:xfrm>
            <a:off x="6163056" y="914400"/>
            <a:ext cx="25603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Data &amp; AI Layer</a:t>
            </a:r>
            <a:endParaRPr lang="en-US" sz="1400" dirty="0"/>
          </a:p>
        </p:txBody>
      </p:sp>
      <p:sp>
        <p:nvSpPr>
          <p:cNvPr id="34" name="Text 32"/>
          <p:cNvSpPr/>
          <p:nvPr/>
        </p:nvSpPr>
        <p:spPr>
          <a:xfrm>
            <a:off x="6163056" y="1280160"/>
            <a:ext cx="2560320" cy="274320"/>
          </a:xfrm>
          <a:prstGeom prst="rect">
            <a:avLst/>
          </a:prstGeom>
          <a:noFill/>
          <a:ln/>
        </p:spPr>
        <p:txBody>
          <a:bodyPr wrap="square" lIns="0" tIns="0" rIns="0" bIns="0" rtlCol="0" anchor="ctr"/>
          <a:lstStyle/>
          <a:p>
            <a:pPr indent="0" marL="0">
              <a:buNone/>
            </a:pPr>
            <a:r>
              <a:rPr lang="en-US" sz="1000" i="1" dirty="0">
                <a:solidFill>
                  <a:srgbClr val="DBEAFE"/>
                </a:solidFill>
                <a:latin typeface="Calibri" pitchFamily="34" charset="0"/>
                <a:ea typeface="Calibri" pitchFamily="34" charset="-122"/>
                <a:cs typeface="Calibri" pitchFamily="34" charset="-120"/>
              </a:rPr>
              <a:t>MySQL + Python scikit-learn</a:t>
            </a:r>
            <a:endParaRPr lang="en-US" sz="1000" dirty="0"/>
          </a:p>
        </p:txBody>
      </p:sp>
      <p:sp>
        <p:nvSpPr>
          <p:cNvPr id="35" name="Shape 33"/>
          <p:cNvSpPr/>
          <p:nvPr/>
        </p:nvSpPr>
        <p:spPr>
          <a:xfrm>
            <a:off x="6208776" y="1691640"/>
            <a:ext cx="2468880" cy="457200"/>
          </a:xfrm>
          <a:prstGeom prst="rect">
            <a:avLst/>
          </a:prstGeom>
          <a:solidFill>
            <a:srgbClr val="EEF2FF"/>
          </a:solidFill>
          <a:ln w="12700">
            <a:solidFill>
              <a:srgbClr val="DBEAFE"/>
            </a:solidFill>
            <a:prstDash val="solid"/>
          </a:ln>
        </p:spPr>
      </p:sp>
      <p:sp>
        <p:nvSpPr>
          <p:cNvPr id="36" name="Text 34"/>
          <p:cNvSpPr/>
          <p:nvPr/>
        </p:nvSpPr>
        <p:spPr>
          <a:xfrm>
            <a:off x="6300216" y="1691640"/>
            <a:ext cx="2286000" cy="4572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User &amp; Schedule DB</a:t>
            </a:r>
            <a:endParaRPr lang="en-US" sz="1100" dirty="0"/>
          </a:p>
        </p:txBody>
      </p:sp>
      <p:sp>
        <p:nvSpPr>
          <p:cNvPr id="37" name="Shape 35"/>
          <p:cNvSpPr/>
          <p:nvPr/>
        </p:nvSpPr>
        <p:spPr>
          <a:xfrm>
            <a:off x="6208776" y="2258568"/>
            <a:ext cx="2468880" cy="457200"/>
          </a:xfrm>
          <a:prstGeom prst="rect">
            <a:avLst/>
          </a:prstGeom>
          <a:solidFill>
            <a:srgbClr val="EEF2FF"/>
          </a:solidFill>
          <a:ln w="12700">
            <a:solidFill>
              <a:srgbClr val="DBEAFE"/>
            </a:solidFill>
            <a:prstDash val="solid"/>
          </a:ln>
        </p:spPr>
      </p:sp>
      <p:sp>
        <p:nvSpPr>
          <p:cNvPr id="38" name="Text 36"/>
          <p:cNvSpPr/>
          <p:nvPr/>
        </p:nvSpPr>
        <p:spPr>
          <a:xfrm>
            <a:off x="6300216" y="2258568"/>
            <a:ext cx="2286000" cy="4572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Group Session Data</a:t>
            </a:r>
            <a:endParaRPr lang="en-US" sz="1100" dirty="0"/>
          </a:p>
        </p:txBody>
      </p:sp>
      <p:sp>
        <p:nvSpPr>
          <p:cNvPr id="39" name="Shape 37"/>
          <p:cNvSpPr/>
          <p:nvPr/>
        </p:nvSpPr>
        <p:spPr>
          <a:xfrm>
            <a:off x="6208776" y="2825496"/>
            <a:ext cx="2468880" cy="457200"/>
          </a:xfrm>
          <a:prstGeom prst="rect">
            <a:avLst/>
          </a:prstGeom>
          <a:solidFill>
            <a:srgbClr val="EEF2FF"/>
          </a:solidFill>
          <a:ln w="12700">
            <a:solidFill>
              <a:srgbClr val="DBEAFE"/>
            </a:solidFill>
            <a:prstDash val="solid"/>
          </a:ln>
        </p:spPr>
      </p:sp>
      <p:sp>
        <p:nvSpPr>
          <p:cNvPr id="40" name="Text 38"/>
          <p:cNvSpPr/>
          <p:nvPr/>
        </p:nvSpPr>
        <p:spPr>
          <a:xfrm>
            <a:off x="6300216" y="2825496"/>
            <a:ext cx="2286000" cy="4572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AI Matching Model</a:t>
            </a:r>
            <a:endParaRPr lang="en-US" sz="1100" dirty="0"/>
          </a:p>
        </p:txBody>
      </p:sp>
      <p:sp>
        <p:nvSpPr>
          <p:cNvPr id="41" name="Shape 39"/>
          <p:cNvSpPr/>
          <p:nvPr/>
        </p:nvSpPr>
        <p:spPr>
          <a:xfrm>
            <a:off x="6208776" y="3392424"/>
            <a:ext cx="2468880" cy="457200"/>
          </a:xfrm>
          <a:prstGeom prst="rect">
            <a:avLst/>
          </a:prstGeom>
          <a:solidFill>
            <a:srgbClr val="EEF2FF"/>
          </a:solidFill>
          <a:ln w="12700">
            <a:solidFill>
              <a:srgbClr val="DBEAFE"/>
            </a:solidFill>
            <a:prstDash val="solid"/>
          </a:ln>
        </p:spPr>
      </p:sp>
      <p:sp>
        <p:nvSpPr>
          <p:cNvPr id="42" name="Text 40"/>
          <p:cNvSpPr/>
          <p:nvPr/>
        </p:nvSpPr>
        <p:spPr>
          <a:xfrm>
            <a:off x="6300216" y="3392424"/>
            <a:ext cx="2286000" cy="4572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Strength/Weakness Data</a:t>
            </a:r>
            <a:endParaRPr lang="en-US" sz="1100" dirty="0"/>
          </a:p>
        </p:txBody>
      </p:sp>
      <p:sp>
        <p:nvSpPr>
          <p:cNvPr id="43" name="Text 41"/>
          <p:cNvSpPr/>
          <p:nvPr/>
        </p:nvSpPr>
        <p:spPr>
          <a:xfrm>
            <a:off x="274320" y="4800600"/>
            <a:ext cx="8595360" cy="274320"/>
          </a:xfrm>
          <a:prstGeom prst="rect">
            <a:avLst/>
          </a:prstGeom>
          <a:noFill/>
          <a:ln/>
        </p:spPr>
        <p:txBody>
          <a:bodyPr wrap="square" rtlCol="0" anchor="ctr"/>
          <a:lstStyle/>
          <a:p>
            <a:pPr algn="ctr" indent="0" marL="0">
              <a:buNone/>
            </a:pPr>
            <a:r>
              <a:rPr lang="en-US" sz="1000" i="1" dirty="0">
                <a:solidFill>
                  <a:srgbClr val="4A5568"/>
                </a:solidFill>
                <a:latin typeface="Calibri" pitchFamily="34" charset="0"/>
                <a:ea typeface="Calibri" pitchFamily="34" charset="-122"/>
                <a:cs typeface="Calibri" pitchFamily="34" charset="-120"/>
              </a:rPr>
              <a:t>REST API calls  ↔  DB queries  ↔  AI inference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3E"/>
          </a:solidFill>
          <a:ln w="12700">
            <a:solidFill>
              <a:srgbClr val="0D1B3E"/>
            </a:solidFill>
            <a:prstDash val="solid"/>
          </a:ln>
        </p:spPr>
      </p:sp>
      <p:sp>
        <p:nvSpPr>
          <p:cNvPr id="3" name="Text 1"/>
          <p:cNvSpPr/>
          <p:nvPr/>
        </p:nvSpPr>
        <p:spPr>
          <a:xfrm>
            <a:off x="365760" y="0"/>
            <a:ext cx="8229600" cy="50292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TOOLS &amp; TECHNOLOGIES</a:t>
            </a:r>
            <a:endParaRPr lang="en-US" sz="1300" dirty="0"/>
          </a:p>
        </p:txBody>
      </p:sp>
      <p:sp>
        <p:nvSpPr>
          <p:cNvPr id="4" name="Text 2"/>
          <p:cNvSpPr/>
          <p:nvPr/>
        </p:nvSpPr>
        <p:spPr>
          <a:xfrm>
            <a:off x="365760" y="566928"/>
            <a:ext cx="8412480" cy="347472"/>
          </a:xfrm>
          <a:prstGeom prst="rect">
            <a:avLst/>
          </a:prstGeom>
          <a:noFill/>
          <a:ln/>
        </p:spPr>
        <p:txBody>
          <a:bodyPr wrap="square" lIns="0" tIns="0" rIns="0" bIns="0"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Specific, justified choices for each layer of the system</a:t>
            </a:r>
            <a:endParaRPr lang="en-US" sz="1100" dirty="0"/>
          </a:p>
        </p:txBody>
      </p:sp>
      <p:sp>
        <p:nvSpPr>
          <p:cNvPr id="5" name="Shape 3"/>
          <p:cNvSpPr/>
          <p:nvPr/>
        </p:nvSpPr>
        <p:spPr>
          <a:xfrm>
            <a:off x="274320" y="960120"/>
            <a:ext cx="4206240" cy="1508760"/>
          </a:xfrm>
          <a:prstGeom prst="rect">
            <a:avLst/>
          </a:prstGeom>
          <a:solidFill>
            <a:srgbClr val="FFFFFF"/>
          </a:solidFill>
          <a:ln w="12700">
            <a:solidFill>
              <a:srgbClr val="E5E7EB"/>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74320" y="960120"/>
            <a:ext cx="64008" cy="1508760"/>
          </a:xfrm>
          <a:prstGeom prst="rect">
            <a:avLst/>
          </a:prstGeom>
          <a:solidFill>
            <a:srgbClr val="3A86FF"/>
          </a:solidFill>
          <a:ln w="12700">
            <a:solidFill>
              <a:srgbClr val="3A86FF"/>
            </a:solidFill>
            <a:prstDash val="solid"/>
          </a:ln>
        </p:spPr>
      </p:sp>
      <p:sp>
        <p:nvSpPr>
          <p:cNvPr id="7" name="Text 5"/>
          <p:cNvSpPr/>
          <p:nvPr/>
        </p:nvSpPr>
        <p:spPr>
          <a:xfrm>
            <a:off x="502920" y="1033272"/>
            <a:ext cx="3886200" cy="36576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Frontend</a:t>
            </a:r>
            <a:endParaRPr lang="en-US" sz="1300" dirty="0"/>
          </a:p>
        </p:txBody>
      </p:sp>
      <p:sp>
        <p:nvSpPr>
          <p:cNvPr id="8" name="Text 6"/>
          <p:cNvSpPr/>
          <p:nvPr/>
        </p:nvSpPr>
        <p:spPr>
          <a:xfrm>
            <a:off x="502920" y="1435608"/>
            <a:ext cx="3886200" cy="438912"/>
          </a:xfrm>
          <a:prstGeom prst="rect">
            <a:avLst/>
          </a:prstGeom>
          <a:noFill/>
          <a:ln/>
        </p:spPr>
        <p:txBody>
          <a:bodyPr wrap="square" rtlCol="0" anchor="ctr"/>
          <a:lstStyle/>
          <a:p>
            <a:pPr indent="0" marL="0">
              <a:buNone/>
            </a:pPr>
            <a:r>
              <a:rPr lang="en-US" sz="1100" b="1" dirty="0">
                <a:solidFill>
                  <a:srgbClr val="3A86FF"/>
                </a:solidFill>
                <a:latin typeface="Calibri" pitchFamily="34" charset="0"/>
                <a:ea typeface="Calibri" pitchFamily="34" charset="-122"/>
                <a:cs typeface="Calibri" pitchFamily="34" charset="-120"/>
              </a:rPr>
              <a:t>▸  </a:t>
            </a:r>
            <a:pPr indent="0" marL="0">
              <a:buNone/>
            </a:pPr>
            <a:r>
              <a:rPr lang="en-US" sz="1100" dirty="0">
                <a:solidFill>
                  <a:srgbClr val="1A1A2E"/>
                </a:solidFill>
                <a:latin typeface="Calibri" pitchFamily="34" charset="0"/>
                <a:ea typeface="Calibri" pitchFamily="34" charset="-122"/>
                <a:cs typeface="Calibri" pitchFamily="34" charset="-120"/>
              </a:rPr>
              <a:t>React.js — component-based architecture, ideal for dynamic scheduling views and dashboards</a:t>
            </a:r>
            <a:endParaRPr lang="en-US" sz="1100" dirty="0"/>
          </a:p>
        </p:txBody>
      </p:sp>
      <p:sp>
        <p:nvSpPr>
          <p:cNvPr id="9" name="Text 7"/>
          <p:cNvSpPr/>
          <p:nvPr/>
        </p:nvSpPr>
        <p:spPr>
          <a:xfrm>
            <a:off x="502920" y="1911096"/>
            <a:ext cx="3886200" cy="438912"/>
          </a:xfrm>
          <a:prstGeom prst="rect">
            <a:avLst/>
          </a:prstGeom>
          <a:noFill/>
          <a:ln/>
        </p:spPr>
        <p:txBody>
          <a:bodyPr wrap="square" rtlCol="0" anchor="ctr"/>
          <a:lstStyle/>
          <a:p>
            <a:pPr indent="0" marL="0">
              <a:buNone/>
            </a:pPr>
            <a:r>
              <a:rPr lang="en-US" sz="1100" b="1" dirty="0">
                <a:solidFill>
                  <a:srgbClr val="3A86FF"/>
                </a:solidFill>
                <a:latin typeface="Calibri" pitchFamily="34" charset="0"/>
                <a:ea typeface="Calibri" pitchFamily="34" charset="-122"/>
                <a:cs typeface="Calibri" pitchFamily="34" charset="-120"/>
              </a:rPr>
              <a:t>▸  </a:t>
            </a:r>
            <a:pPr indent="0" marL="0">
              <a:buNone/>
            </a:pPr>
            <a:r>
              <a:rPr lang="en-US" sz="1100" dirty="0">
                <a:solidFill>
                  <a:srgbClr val="1A1A2E"/>
                </a:solidFill>
                <a:latin typeface="Calibri" pitchFamily="34" charset="0"/>
                <a:ea typeface="Calibri" pitchFamily="34" charset="-122"/>
                <a:cs typeface="Calibri" pitchFamily="34" charset="-120"/>
              </a:rPr>
              <a:t>JavaScript — core web language, widely supported across all browsers</a:t>
            </a:r>
            <a:endParaRPr lang="en-US" sz="1100" dirty="0"/>
          </a:p>
        </p:txBody>
      </p:sp>
      <p:sp>
        <p:nvSpPr>
          <p:cNvPr id="10" name="Shape 8"/>
          <p:cNvSpPr/>
          <p:nvPr/>
        </p:nvSpPr>
        <p:spPr>
          <a:xfrm>
            <a:off x="4709160" y="960120"/>
            <a:ext cx="4206240" cy="1508760"/>
          </a:xfrm>
          <a:prstGeom prst="rect">
            <a:avLst/>
          </a:prstGeom>
          <a:solidFill>
            <a:srgbClr val="FFFFFF"/>
          </a:solidFill>
          <a:ln w="12700">
            <a:solidFill>
              <a:srgbClr val="E5E7EB"/>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4709160" y="960120"/>
            <a:ext cx="64008" cy="1508760"/>
          </a:xfrm>
          <a:prstGeom prst="rect">
            <a:avLst/>
          </a:prstGeom>
          <a:solidFill>
            <a:srgbClr val="6A4C93"/>
          </a:solidFill>
          <a:ln w="12700">
            <a:solidFill>
              <a:srgbClr val="6A4C93"/>
            </a:solidFill>
            <a:prstDash val="solid"/>
          </a:ln>
        </p:spPr>
      </p:sp>
      <p:sp>
        <p:nvSpPr>
          <p:cNvPr id="12" name="Text 10"/>
          <p:cNvSpPr/>
          <p:nvPr/>
        </p:nvSpPr>
        <p:spPr>
          <a:xfrm>
            <a:off x="4937760" y="1033272"/>
            <a:ext cx="3886200" cy="36576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Backend</a:t>
            </a:r>
            <a:endParaRPr lang="en-US" sz="1300" dirty="0"/>
          </a:p>
        </p:txBody>
      </p:sp>
      <p:sp>
        <p:nvSpPr>
          <p:cNvPr id="13" name="Text 11"/>
          <p:cNvSpPr/>
          <p:nvPr/>
        </p:nvSpPr>
        <p:spPr>
          <a:xfrm>
            <a:off x="4937760" y="1435608"/>
            <a:ext cx="3886200" cy="438912"/>
          </a:xfrm>
          <a:prstGeom prst="rect">
            <a:avLst/>
          </a:prstGeom>
          <a:noFill/>
          <a:ln/>
        </p:spPr>
        <p:txBody>
          <a:bodyPr wrap="square" rtlCol="0" anchor="ctr"/>
          <a:lstStyle/>
          <a:p>
            <a:pPr indent="0" marL="0">
              <a:buNone/>
            </a:pPr>
            <a:r>
              <a:rPr lang="en-US" sz="1100" b="1" dirty="0">
                <a:solidFill>
                  <a:srgbClr val="6A4C93"/>
                </a:solidFill>
                <a:latin typeface="Calibri" pitchFamily="34" charset="0"/>
                <a:ea typeface="Calibri" pitchFamily="34" charset="-122"/>
                <a:cs typeface="Calibri" pitchFamily="34" charset="-120"/>
              </a:rPr>
              <a:t>▸  </a:t>
            </a:r>
            <a:pPr indent="0" marL="0">
              <a:buNone/>
            </a:pPr>
            <a:r>
              <a:rPr lang="en-US" sz="1100" dirty="0">
                <a:solidFill>
                  <a:srgbClr val="1A1A2E"/>
                </a:solidFill>
                <a:latin typeface="Calibri" pitchFamily="34" charset="0"/>
                <a:ea typeface="Calibri" pitchFamily="34" charset="-122"/>
                <a:cs typeface="Calibri" pitchFamily="34" charset="-120"/>
              </a:rPr>
              <a:t>Python — strong AI/ML ecosystem via scikit-learn, Pandas, NumPy</a:t>
            </a:r>
            <a:endParaRPr lang="en-US" sz="1100" dirty="0"/>
          </a:p>
        </p:txBody>
      </p:sp>
      <p:sp>
        <p:nvSpPr>
          <p:cNvPr id="14" name="Text 12"/>
          <p:cNvSpPr/>
          <p:nvPr/>
        </p:nvSpPr>
        <p:spPr>
          <a:xfrm>
            <a:off x="4937760" y="1911096"/>
            <a:ext cx="3886200" cy="438912"/>
          </a:xfrm>
          <a:prstGeom prst="rect">
            <a:avLst/>
          </a:prstGeom>
          <a:noFill/>
          <a:ln/>
        </p:spPr>
        <p:txBody>
          <a:bodyPr wrap="square" rtlCol="0" anchor="ctr"/>
          <a:lstStyle/>
          <a:p>
            <a:pPr indent="0" marL="0">
              <a:buNone/>
            </a:pPr>
            <a:r>
              <a:rPr lang="en-US" sz="1100" b="1" dirty="0">
                <a:solidFill>
                  <a:srgbClr val="6A4C93"/>
                </a:solidFill>
                <a:latin typeface="Calibri" pitchFamily="34" charset="0"/>
                <a:ea typeface="Calibri" pitchFamily="34" charset="-122"/>
                <a:cs typeface="Calibri" pitchFamily="34" charset="-120"/>
              </a:rPr>
              <a:t>▸  </a:t>
            </a:r>
            <a:pPr indent="0" marL="0">
              <a:buNone/>
            </a:pPr>
            <a:r>
              <a:rPr lang="en-US" sz="1100" dirty="0">
                <a:solidFill>
                  <a:srgbClr val="1A1A2E"/>
                </a:solidFill>
                <a:latin typeface="Calibri" pitchFamily="34" charset="0"/>
                <a:ea typeface="Calibri" pitchFamily="34" charset="-122"/>
                <a:cs typeface="Calibri" pitchFamily="34" charset="-120"/>
              </a:rPr>
              <a:t>Django REST Framework — rapid API development, built-in ORM, strong security defaults</a:t>
            </a:r>
            <a:endParaRPr lang="en-US" sz="1100" dirty="0"/>
          </a:p>
        </p:txBody>
      </p:sp>
      <p:sp>
        <p:nvSpPr>
          <p:cNvPr id="15" name="Shape 13"/>
          <p:cNvSpPr/>
          <p:nvPr/>
        </p:nvSpPr>
        <p:spPr>
          <a:xfrm>
            <a:off x="274320" y="2651760"/>
            <a:ext cx="4206240" cy="1508760"/>
          </a:xfrm>
          <a:prstGeom prst="rect">
            <a:avLst/>
          </a:prstGeom>
          <a:solidFill>
            <a:srgbClr val="FFFFFF"/>
          </a:solidFill>
          <a:ln w="12700">
            <a:solidFill>
              <a:srgbClr val="E5E7EB"/>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274320" y="2651760"/>
            <a:ext cx="64008" cy="1508760"/>
          </a:xfrm>
          <a:prstGeom prst="rect">
            <a:avLst/>
          </a:prstGeom>
          <a:solidFill>
            <a:srgbClr val="2D6A4F"/>
          </a:solidFill>
          <a:ln w="12700">
            <a:solidFill>
              <a:srgbClr val="2D6A4F"/>
            </a:solidFill>
            <a:prstDash val="solid"/>
          </a:ln>
        </p:spPr>
      </p:sp>
      <p:sp>
        <p:nvSpPr>
          <p:cNvPr id="17" name="Text 15"/>
          <p:cNvSpPr/>
          <p:nvPr/>
        </p:nvSpPr>
        <p:spPr>
          <a:xfrm>
            <a:off x="502920" y="2724912"/>
            <a:ext cx="3886200" cy="36576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AI / ML</a:t>
            </a:r>
            <a:endParaRPr lang="en-US" sz="1300" dirty="0"/>
          </a:p>
        </p:txBody>
      </p:sp>
      <p:sp>
        <p:nvSpPr>
          <p:cNvPr id="18" name="Text 16"/>
          <p:cNvSpPr/>
          <p:nvPr/>
        </p:nvSpPr>
        <p:spPr>
          <a:xfrm>
            <a:off x="502920" y="3127248"/>
            <a:ext cx="3886200" cy="438912"/>
          </a:xfrm>
          <a:prstGeom prst="rect">
            <a:avLst/>
          </a:prstGeom>
          <a:noFill/>
          <a:ln/>
        </p:spPr>
        <p:txBody>
          <a:bodyPr wrap="square"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  </a:t>
            </a:r>
            <a:pPr indent="0" marL="0">
              <a:buNone/>
            </a:pPr>
            <a:r>
              <a:rPr lang="en-US" sz="1100" dirty="0">
                <a:solidFill>
                  <a:srgbClr val="1A1A2E"/>
                </a:solidFill>
                <a:latin typeface="Calibri" pitchFamily="34" charset="0"/>
                <a:ea typeface="Calibri" pitchFamily="34" charset="-122"/>
                <a:cs typeface="Calibri" pitchFamily="34" charset="-120"/>
              </a:rPr>
              <a:t>scikit-learn — for building the student peer-matching model</a:t>
            </a:r>
            <a:endParaRPr lang="en-US" sz="1100" dirty="0"/>
          </a:p>
        </p:txBody>
      </p:sp>
      <p:sp>
        <p:nvSpPr>
          <p:cNvPr id="19" name="Text 17"/>
          <p:cNvSpPr/>
          <p:nvPr/>
        </p:nvSpPr>
        <p:spPr>
          <a:xfrm>
            <a:off x="502920" y="3602736"/>
            <a:ext cx="3886200" cy="438912"/>
          </a:xfrm>
          <a:prstGeom prst="rect">
            <a:avLst/>
          </a:prstGeom>
          <a:noFill/>
          <a:ln/>
        </p:spPr>
        <p:txBody>
          <a:bodyPr wrap="square" rtlCol="0" anchor="ctr"/>
          <a:lstStyle/>
          <a:p>
            <a:pPr indent="0" marL="0">
              <a:buNone/>
            </a:pPr>
            <a:r>
              <a:rPr lang="en-US" sz="1100" b="1" dirty="0">
                <a:solidFill>
                  <a:srgbClr val="2D6A4F"/>
                </a:solidFill>
                <a:latin typeface="Calibri" pitchFamily="34" charset="0"/>
                <a:ea typeface="Calibri" pitchFamily="34" charset="-122"/>
                <a:cs typeface="Calibri" pitchFamily="34" charset="-120"/>
              </a:rPr>
              <a:t>▸  </a:t>
            </a:r>
            <a:pPr indent="0" marL="0">
              <a:buNone/>
            </a:pPr>
            <a:r>
              <a:rPr lang="en-US" sz="1100" dirty="0">
                <a:solidFill>
                  <a:srgbClr val="1A1A2E"/>
                </a:solidFill>
                <a:latin typeface="Calibri" pitchFamily="34" charset="0"/>
                <a:ea typeface="Calibri" pitchFamily="34" charset="-122"/>
                <a:cs typeface="Calibri" pitchFamily="34" charset="-120"/>
              </a:rPr>
              <a:t>Pandas &amp; NumPy — data preprocessing and feature vector engineering</a:t>
            </a:r>
            <a:endParaRPr lang="en-US" sz="1100" dirty="0"/>
          </a:p>
        </p:txBody>
      </p:sp>
      <p:sp>
        <p:nvSpPr>
          <p:cNvPr id="20" name="Shape 18"/>
          <p:cNvSpPr/>
          <p:nvPr/>
        </p:nvSpPr>
        <p:spPr>
          <a:xfrm>
            <a:off x="4709160" y="2651760"/>
            <a:ext cx="4206240" cy="1508760"/>
          </a:xfrm>
          <a:prstGeom prst="rect">
            <a:avLst/>
          </a:prstGeom>
          <a:solidFill>
            <a:srgbClr val="FFFFFF"/>
          </a:solidFill>
          <a:ln w="12700">
            <a:solidFill>
              <a:srgbClr val="E5E7EB"/>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4709160" y="2651760"/>
            <a:ext cx="64008" cy="1508760"/>
          </a:xfrm>
          <a:prstGeom prst="rect">
            <a:avLst/>
          </a:prstGeom>
          <a:solidFill>
            <a:srgbClr val="E9C46A"/>
          </a:solidFill>
          <a:ln w="12700">
            <a:solidFill>
              <a:srgbClr val="E9C46A"/>
            </a:solidFill>
            <a:prstDash val="solid"/>
          </a:ln>
        </p:spPr>
      </p:sp>
      <p:sp>
        <p:nvSpPr>
          <p:cNvPr id="22" name="Text 20"/>
          <p:cNvSpPr/>
          <p:nvPr/>
        </p:nvSpPr>
        <p:spPr>
          <a:xfrm>
            <a:off x="4937760" y="2724912"/>
            <a:ext cx="3886200" cy="36576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Database</a:t>
            </a:r>
            <a:endParaRPr lang="en-US" sz="1300" dirty="0"/>
          </a:p>
        </p:txBody>
      </p:sp>
      <p:sp>
        <p:nvSpPr>
          <p:cNvPr id="23" name="Text 21"/>
          <p:cNvSpPr/>
          <p:nvPr/>
        </p:nvSpPr>
        <p:spPr>
          <a:xfrm>
            <a:off x="4937760" y="3127248"/>
            <a:ext cx="3886200" cy="438912"/>
          </a:xfrm>
          <a:prstGeom prst="rect">
            <a:avLst/>
          </a:prstGeom>
          <a:noFill/>
          <a:ln/>
        </p:spPr>
        <p:txBody>
          <a:bodyPr wrap="square" rtlCol="0" anchor="ctr"/>
          <a:lstStyle/>
          <a:p>
            <a:pPr indent="0" marL="0">
              <a:buNone/>
            </a:pPr>
            <a:r>
              <a:rPr lang="en-US" sz="1100" b="1" dirty="0">
                <a:solidFill>
                  <a:srgbClr val="E9C46A"/>
                </a:solidFill>
                <a:latin typeface="Calibri" pitchFamily="34" charset="0"/>
                <a:ea typeface="Calibri" pitchFamily="34" charset="-122"/>
                <a:cs typeface="Calibri" pitchFamily="34" charset="-120"/>
              </a:rPr>
              <a:t>▸  </a:t>
            </a:r>
            <a:pPr indent="0" marL="0">
              <a:buNone/>
            </a:pPr>
            <a:r>
              <a:rPr lang="en-US" sz="1100" dirty="0">
                <a:solidFill>
                  <a:srgbClr val="1A1A2E"/>
                </a:solidFill>
                <a:latin typeface="Calibri" pitchFamily="34" charset="0"/>
                <a:ea typeface="Calibri" pitchFamily="34" charset="-122"/>
                <a:cs typeface="Calibri" pitchFamily="34" charset="-120"/>
              </a:rPr>
              <a:t>MySQL (production) — relational DB for structured user and schedule data</a:t>
            </a:r>
            <a:endParaRPr lang="en-US" sz="1100" dirty="0"/>
          </a:p>
        </p:txBody>
      </p:sp>
      <p:sp>
        <p:nvSpPr>
          <p:cNvPr id="24" name="Text 22"/>
          <p:cNvSpPr/>
          <p:nvPr/>
        </p:nvSpPr>
        <p:spPr>
          <a:xfrm>
            <a:off x="4937760" y="3602736"/>
            <a:ext cx="3886200" cy="438912"/>
          </a:xfrm>
          <a:prstGeom prst="rect">
            <a:avLst/>
          </a:prstGeom>
          <a:noFill/>
          <a:ln/>
        </p:spPr>
        <p:txBody>
          <a:bodyPr wrap="square" rtlCol="0" anchor="ctr"/>
          <a:lstStyle/>
          <a:p>
            <a:pPr indent="0" marL="0">
              <a:buNone/>
            </a:pPr>
            <a:r>
              <a:rPr lang="en-US" sz="1100" b="1" dirty="0">
                <a:solidFill>
                  <a:srgbClr val="E9C46A"/>
                </a:solidFill>
                <a:latin typeface="Calibri" pitchFamily="34" charset="0"/>
                <a:ea typeface="Calibri" pitchFamily="34" charset="-122"/>
                <a:cs typeface="Calibri" pitchFamily="34" charset="-120"/>
              </a:rPr>
              <a:t>▸  </a:t>
            </a:r>
            <a:pPr indent="0" marL="0">
              <a:buNone/>
            </a:pPr>
            <a:r>
              <a:rPr lang="en-US" sz="1100" dirty="0">
                <a:solidFill>
                  <a:srgbClr val="1A1A2E"/>
                </a:solidFill>
                <a:latin typeface="Calibri" pitchFamily="34" charset="0"/>
                <a:ea typeface="Calibri" pitchFamily="34" charset="-122"/>
                <a:cs typeface="Calibri" pitchFamily="34" charset="-120"/>
              </a:rPr>
              <a:t>SQLite (local dev) — lightweight option for development and testing</a:t>
            </a:r>
            <a:endParaRPr lang="en-US" sz="1100" dirty="0"/>
          </a:p>
        </p:txBody>
      </p:sp>
      <p:sp>
        <p:nvSpPr>
          <p:cNvPr id="25" name="Shape 23"/>
          <p:cNvSpPr/>
          <p:nvPr/>
        </p:nvSpPr>
        <p:spPr>
          <a:xfrm>
            <a:off x="274320" y="4343400"/>
            <a:ext cx="8595360" cy="1508760"/>
          </a:xfrm>
          <a:prstGeom prst="rect">
            <a:avLst/>
          </a:prstGeom>
          <a:solidFill>
            <a:srgbClr val="FFFFFF"/>
          </a:solidFill>
          <a:ln w="12700">
            <a:solidFill>
              <a:srgbClr val="E5E7EB"/>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274320" y="4343400"/>
            <a:ext cx="64008" cy="1508760"/>
          </a:xfrm>
          <a:prstGeom prst="rect">
            <a:avLst/>
          </a:prstGeom>
          <a:solidFill>
            <a:srgbClr val="4A5568"/>
          </a:solidFill>
          <a:ln w="12700">
            <a:solidFill>
              <a:srgbClr val="4A5568"/>
            </a:solidFill>
            <a:prstDash val="solid"/>
          </a:ln>
        </p:spPr>
      </p:sp>
      <p:sp>
        <p:nvSpPr>
          <p:cNvPr id="27" name="Text 25"/>
          <p:cNvSpPr/>
          <p:nvPr/>
        </p:nvSpPr>
        <p:spPr>
          <a:xfrm>
            <a:off x="502920" y="4416552"/>
            <a:ext cx="8275320" cy="36576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Dev Tools</a:t>
            </a:r>
            <a:endParaRPr lang="en-US" sz="1300" dirty="0"/>
          </a:p>
        </p:txBody>
      </p:sp>
      <p:sp>
        <p:nvSpPr>
          <p:cNvPr id="28" name="Text 26"/>
          <p:cNvSpPr/>
          <p:nvPr/>
        </p:nvSpPr>
        <p:spPr>
          <a:xfrm>
            <a:off x="502920" y="4818888"/>
            <a:ext cx="8275320" cy="438912"/>
          </a:xfrm>
          <a:prstGeom prst="rect">
            <a:avLst/>
          </a:prstGeom>
          <a:noFill/>
          <a:ln/>
        </p:spPr>
        <p:txBody>
          <a:bodyPr wrap="square" rtlCol="0" anchor="ctr"/>
          <a:lstStyle/>
          <a:p>
            <a:pPr indent="0" marL="0">
              <a:buNone/>
            </a:pPr>
            <a:r>
              <a:rPr lang="en-US" sz="1100" b="1" dirty="0">
                <a:solidFill>
                  <a:srgbClr val="4A5568"/>
                </a:solidFill>
                <a:latin typeface="Calibri" pitchFamily="34" charset="0"/>
                <a:ea typeface="Calibri" pitchFamily="34" charset="-122"/>
                <a:cs typeface="Calibri" pitchFamily="34" charset="-120"/>
              </a:rPr>
              <a:t>▸  </a:t>
            </a:r>
            <a:pPr indent="0" marL="0">
              <a:buNone/>
            </a:pPr>
            <a:r>
              <a:rPr lang="en-US" sz="1100" dirty="0">
                <a:solidFill>
                  <a:srgbClr val="1A1A2E"/>
                </a:solidFill>
                <a:latin typeface="Calibri" pitchFamily="34" charset="0"/>
                <a:ea typeface="Calibri" pitchFamily="34" charset="-122"/>
                <a:cs typeface="Calibri" pitchFamily="34" charset="-120"/>
              </a:rPr>
              <a:t>GitHub — version control and issue tracking    |    VS Code — primary IDE    |    Postman — API testing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3E"/>
          </a:solidFill>
          <a:ln w="12700">
            <a:solidFill>
              <a:srgbClr val="0D1B3E"/>
            </a:solidFill>
            <a:prstDash val="solid"/>
          </a:ln>
        </p:spPr>
      </p:sp>
      <p:sp>
        <p:nvSpPr>
          <p:cNvPr id="3" name="Text 1"/>
          <p:cNvSpPr/>
          <p:nvPr/>
        </p:nvSpPr>
        <p:spPr>
          <a:xfrm>
            <a:off x="365760" y="0"/>
            <a:ext cx="8229600" cy="50292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ETHICAL &amp; LEGAL CONSIDERATIONS</a:t>
            </a:r>
            <a:endParaRPr lang="en-US" sz="1300" dirty="0"/>
          </a:p>
        </p:txBody>
      </p:sp>
      <p:sp>
        <p:nvSpPr>
          <p:cNvPr id="4" name="Text 2"/>
          <p:cNvSpPr/>
          <p:nvPr/>
        </p:nvSpPr>
        <p:spPr>
          <a:xfrm>
            <a:off x="365760" y="566928"/>
            <a:ext cx="8412480" cy="347472"/>
          </a:xfrm>
          <a:prstGeom prst="rect">
            <a:avLst/>
          </a:prstGeom>
          <a:noFill/>
          <a:ln/>
        </p:spPr>
        <p:txBody>
          <a:bodyPr wrap="square" lIns="0" tIns="0" rIns="0" bIns="0"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Responsible design — privacy, consent, fairness, and security</a:t>
            </a:r>
            <a:endParaRPr lang="en-US" sz="1100" dirty="0"/>
          </a:p>
        </p:txBody>
      </p:sp>
      <p:sp>
        <p:nvSpPr>
          <p:cNvPr id="5" name="Shape 3"/>
          <p:cNvSpPr/>
          <p:nvPr/>
        </p:nvSpPr>
        <p:spPr>
          <a:xfrm>
            <a:off x="274320" y="960120"/>
            <a:ext cx="2743200" cy="173736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74320" y="960120"/>
            <a:ext cx="2743200" cy="384048"/>
          </a:xfrm>
          <a:prstGeom prst="rect">
            <a:avLst/>
          </a:prstGeom>
          <a:solidFill>
            <a:srgbClr val="1E2761"/>
          </a:solidFill>
          <a:ln w="12700">
            <a:solidFill>
              <a:srgbClr val="1E2761"/>
            </a:solidFill>
            <a:prstDash val="solid"/>
          </a:ln>
        </p:spPr>
      </p:sp>
      <p:sp>
        <p:nvSpPr>
          <p:cNvPr id="7" name="Text 5"/>
          <p:cNvSpPr/>
          <p:nvPr/>
        </p:nvSpPr>
        <p:spPr>
          <a:xfrm>
            <a:off x="365760" y="960120"/>
            <a:ext cx="256032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Data Privacy</a:t>
            </a:r>
            <a:endParaRPr lang="en-US" sz="1200" dirty="0"/>
          </a:p>
        </p:txBody>
      </p:sp>
      <p:sp>
        <p:nvSpPr>
          <p:cNvPr id="8" name="Text 6"/>
          <p:cNvSpPr/>
          <p:nvPr/>
        </p:nvSpPr>
        <p:spPr>
          <a:xfrm>
            <a:off x="365760" y="1417320"/>
            <a:ext cx="2560320" cy="118872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All personal data stored securely. Passwords hashed using bcrypt. No plain-text storage or unencrypted transmission of sensitive fields.</a:t>
            </a:r>
            <a:endParaRPr lang="en-US" sz="1050" dirty="0"/>
          </a:p>
        </p:txBody>
      </p:sp>
      <p:sp>
        <p:nvSpPr>
          <p:cNvPr id="9" name="Shape 7"/>
          <p:cNvSpPr/>
          <p:nvPr/>
        </p:nvSpPr>
        <p:spPr>
          <a:xfrm>
            <a:off x="3172968" y="960120"/>
            <a:ext cx="2743200" cy="173736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172968" y="960120"/>
            <a:ext cx="2743200" cy="384048"/>
          </a:xfrm>
          <a:prstGeom prst="rect">
            <a:avLst/>
          </a:prstGeom>
          <a:solidFill>
            <a:srgbClr val="2D6A4F"/>
          </a:solidFill>
          <a:ln w="12700">
            <a:solidFill>
              <a:srgbClr val="2D6A4F"/>
            </a:solidFill>
            <a:prstDash val="solid"/>
          </a:ln>
        </p:spPr>
      </p:sp>
      <p:sp>
        <p:nvSpPr>
          <p:cNvPr id="11" name="Text 9"/>
          <p:cNvSpPr/>
          <p:nvPr/>
        </p:nvSpPr>
        <p:spPr>
          <a:xfrm>
            <a:off x="3264408" y="960120"/>
            <a:ext cx="256032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Informed Consent</a:t>
            </a:r>
            <a:endParaRPr lang="en-US" sz="1200" dirty="0"/>
          </a:p>
        </p:txBody>
      </p:sp>
      <p:sp>
        <p:nvSpPr>
          <p:cNvPr id="12" name="Text 10"/>
          <p:cNvSpPr/>
          <p:nvPr/>
        </p:nvSpPr>
        <p:spPr>
          <a:xfrm>
            <a:off x="3264408" y="1417320"/>
            <a:ext cx="2560320" cy="118872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GroupStudy matching is fully optional. Students are explicitly informed of data use before opting in and may withdraw at any time.</a:t>
            </a:r>
            <a:endParaRPr lang="en-US" sz="1050" dirty="0"/>
          </a:p>
        </p:txBody>
      </p:sp>
      <p:sp>
        <p:nvSpPr>
          <p:cNvPr id="13" name="Shape 11"/>
          <p:cNvSpPr/>
          <p:nvPr/>
        </p:nvSpPr>
        <p:spPr>
          <a:xfrm>
            <a:off x="6071616" y="960120"/>
            <a:ext cx="2743200" cy="173736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6071616" y="960120"/>
            <a:ext cx="2743200" cy="384048"/>
          </a:xfrm>
          <a:prstGeom prst="rect">
            <a:avLst/>
          </a:prstGeom>
          <a:solidFill>
            <a:srgbClr val="6A4C93"/>
          </a:solidFill>
          <a:ln w="12700">
            <a:solidFill>
              <a:srgbClr val="6A4C93"/>
            </a:solidFill>
            <a:prstDash val="solid"/>
          </a:ln>
        </p:spPr>
      </p:sp>
      <p:sp>
        <p:nvSpPr>
          <p:cNvPr id="15" name="Text 13"/>
          <p:cNvSpPr/>
          <p:nvPr/>
        </p:nvSpPr>
        <p:spPr>
          <a:xfrm>
            <a:off x="6163056" y="960120"/>
            <a:ext cx="256032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Anonymisation</a:t>
            </a:r>
            <a:endParaRPr lang="en-US" sz="1200" dirty="0"/>
          </a:p>
        </p:txBody>
      </p:sp>
      <p:sp>
        <p:nvSpPr>
          <p:cNvPr id="16" name="Text 14"/>
          <p:cNvSpPr/>
          <p:nvPr/>
        </p:nvSpPr>
        <p:spPr>
          <a:xfrm>
            <a:off x="6163056" y="1417320"/>
            <a:ext cx="2560320" cy="118872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Academic strength/weakness data used by the AI model is processed anonymously. Students see only match results, never each other's raw data.</a:t>
            </a:r>
            <a:endParaRPr lang="en-US" sz="1050" dirty="0"/>
          </a:p>
        </p:txBody>
      </p:sp>
      <p:sp>
        <p:nvSpPr>
          <p:cNvPr id="17" name="Shape 15"/>
          <p:cNvSpPr/>
          <p:nvPr/>
        </p:nvSpPr>
        <p:spPr>
          <a:xfrm>
            <a:off x="274320" y="2880360"/>
            <a:ext cx="2743200" cy="173736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274320" y="2880360"/>
            <a:ext cx="2743200" cy="384048"/>
          </a:xfrm>
          <a:prstGeom prst="rect">
            <a:avLst/>
          </a:prstGeom>
          <a:solidFill>
            <a:srgbClr val="3A86FF"/>
          </a:solidFill>
          <a:ln w="12700">
            <a:solidFill>
              <a:srgbClr val="3A86FF"/>
            </a:solidFill>
            <a:prstDash val="solid"/>
          </a:ln>
        </p:spPr>
      </p:sp>
      <p:sp>
        <p:nvSpPr>
          <p:cNvPr id="19" name="Text 17"/>
          <p:cNvSpPr/>
          <p:nvPr/>
        </p:nvSpPr>
        <p:spPr>
          <a:xfrm>
            <a:off x="365760" y="2880360"/>
            <a:ext cx="256032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AI Fairness</a:t>
            </a:r>
            <a:endParaRPr lang="en-US" sz="1200" dirty="0"/>
          </a:p>
        </p:txBody>
      </p:sp>
      <p:sp>
        <p:nvSpPr>
          <p:cNvPr id="20" name="Text 18"/>
          <p:cNvSpPr/>
          <p:nvPr/>
        </p:nvSpPr>
        <p:spPr>
          <a:xfrm>
            <a:off x="365760" y="3337560"/>
            <a:ext cx="2560320" cy="118872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The matching algorithm is reviewed to prevent systematic disadvantage. All students — regardless of academic standing — receive meaningful match suggestions.</a:t>
            </a:r>
            <a:endParaRPr lang="en-US" sz="1050" dirty="0"/>
          </a:p>
        </p:txBody>
      </p:sp>
      <p:sp>
        <p:nvSpPr>
          <p:cNvPr id="21" name="Shape 19"/>
          <p:cNvSpPr/>
          <p:nvPr/>
        </p:nvSpPr>
        <p:spPr>
          <a:xfrm>
            <a:off x="3172968" y="2880360"/>
            <a:ext cx="2743200" cy="173736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3172968" y="2880360"/>
            <a:ext cx="2743200" cy="384048"/>
          </a:xfrm>
          <a:prstGeom prst="rect">
            <a:avLst/>
          </a:prstGeom>
          <a:solidFill>
            <a:srgbClr val="C1121F"/>
          </a:solidFill>
          <a:ln w="12700">
            <a:solidFill>
              <a:srgbClr val="C1121F"/>
            </a:solidFill>
            <a:prstDash val="solid"/>
          </a:ln>
        </p:spPr>
      </p:sp>
      <p:sp>
        <p:nvSpPr>
          <p:cNvPr id="23" name="Text 21"/>
          <p:cNvSpPr/>
          <p:nvPr/>
        </p:nvSpPr>
        <p:spPr>
          <a:xfrm>
            <a:off x="3264408" y="2880360"/>
            <a:ext cx="256032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Security</a:t>
            </a:r>
            <a:endParaRPr lang="en-US" sz="1200" dirty="0"/>
          </a:p>
        </p:txBody>
      </p:sp>
      <p:sp>
        <p:nvSpPr>
          <p:cNvPr id="24" name="Text 22"/>
          <p:cNvSpPr/>
          <p:nvPr/>
        </p:nvSpPr>
        <p:spPr>
          <a:xfrm>
            <a:off x="3264408" y="3337560"/>
            <a:ext cx="2560320" cy="118872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The app implements HTTPS, input validation and sanitisation, and role-based access controls against SQL injection and XSS vulnerabilities.</a:t>
            </a:r>
            <a:endParaRPr lang="en-US" sz="1050" dirty="0"/>
          </a:p>
        </p:txBody>
      </p:sp>
      <p:sp>
        <p:nvSpPr>
          <p:cNvPr id="25" name="Shape 23"/>
          <p:cNvSpPr/>
          <p:nvPr/>
        </p:nvSpPr>
        <p:spPr>
          <a:xfrm>
            <a:off x="6071616" y="2880360"/>
            <a:ext cx="2743200" cy="173736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6071616" y="2880360"/>
            <a:ext cx="2743200" cy="384048"/>
          </a:xfrm>
          <a:prstGeom prst="rect">
            <a:avLst/>
          </a:prstGeom>
          <a:solidFill>
            <a:srgbClr val="E9C46A"/>
          </a:solidFill>
          <a:ln w="12700">
            <a:solidFill>
              <a:srgbClr val="E9C46A"/>
            </a:solidFill>
            <a:prstDash val="solid"/>
          </a:ln>
        </p:spPr>
      </p:sp>
      <p:sp>
        <p:nvSpPr>
          <p:cNvPr id="27" name="Text 25"/>
          <p:cNvSpPr/>
          <p:nvPr/>
        </p:nvSpPr>
        <p:spPr>
          <a:xfrm>
            <a:off x="6163056" y="2880360"/>
            <a:ext cx="256032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Intellectual Property</a:t>
            </a:r>
            <a:endParaRPr lang="en-US" sz="1200" dirty="0"/>
          </a:p>
        </p:txBody>
      </p:sp>
      <p:sp>
        <p:nvSpPr>
          <p:cNvPr id="28" name="Text 26"/>
          <p:cNvSpPr/>
          <p:nvPr/>
        </p:nvSpPr>
        <p:spPr>
          <a:xfrm>
            <a:off x="6163056" y="3337560"/>
            <a:ext cx="2560320" cy="1188720"/>
          </a:xfrm>
          <a:prstGeom prst="rect">
            <a:avLst/>
          </a:prstGeom>
          <a:noFill/>
          <a:ln/>
        </p:spPr>
        <p:txBody>
          <a:bodyPr wrap="square" rtlCol="0" anchor="t"/>
          <a:lstStyle/>
          <a:p>
            <a:pPr indent="0" marL="0">
              <a:buNone/>
            </a:pPr>
            <a:r>
              <a:rPr lang="en-US" sz="1050" dirty="0">
                <a:solidFill>
                  <a:srgbClr val="4A5568"/>
                </a:solidFill>
                <a:latin typeface="Calibri" pitchFamily="34" charset="0"/>
                <a:ea typeface="Calibri" pitchFamily="34" charset="-122"/>
                <a:cs typeface="Calibri" pitchFamily="34" charset="-120"/>
              </a:rPr>
              <a:t>All code is original work by the named students. Third-party libraries are open-source and properly attributed in the documentation.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3E"/>
          </a:solidFill>
          <a:ln w="12700">
            <a:solidFill>
              <a:srgbClr val="0D1B3E"/>
            </a:solidFill>
            <a:prstDash val="solid"/>
          </a:ln>
        </p:spPr>
      </p:sp>
      <p:sp>
        <p:nvSpPr>
          <p:cNvPr id="3" name="Text 1"/>
          <p:cNvSpPr/>
          <p:nvPr/>
        </p:nvSpPr>
        <p:spPr>
          <a:xfrm>
            <a:off x="365760" y="0"/>
            <a:ext cx="8229600" cy="50292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EXPECTED OUTCOMES</a:t>
            </a:r>
            <a:endParaRPr lang="en-US" sz="1300" dirty="0"/>
          </a:p>
        </p:txBody>
      </p:sp>
      <p:sp>
        <p:nvSpPr>
          <p:cNvPr id="4" name="Text 2"/>
          <p:cNvSpPr/>
          <p:nvPr/>
        </p:nvSpPr>
        <p:spPr>
          <a:xfrm>
            <a:off x="365760" y="566928"/>
            <a:ext cx="8412480" cy="347472"/>
          </a:xfrm>
          <a:prstGeom prst="rect">
            <a:avLst/>
          </a:prstGeom>
          <a:noFill/>
          <a:ln/>
        </p:spPr>
        <p:txBody>
          <a:bodyPr wrap="square" lIns="0" tIns="0" rIns="0" bIns="0"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What will be delivered by the end of this project</a:t>
            </a:r>
            <a:endParaRPr lang="en-US" sz="1100" dirty="0"/>
          </a:p>
        </p:txBody>
      </p:sp>
      <p:sp>
        <p:nvSpPr>
          <p:cNvPr id="5" name="Shape 3"/>
          <p:cNvSpPr/>
          <p:nvPr/>
        </p:nvSpPr>
        <p:spPr>
          <a:xfrm>
            <a:off x="274320" y="960120"/>
            <a:ext cx="4206240" cy="182880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74320" y="960120"/>
            <a:ext cx="4206240" cy="73152"/>
          </a:xfrm>
          <a:prstGeom prst="rect">
            <a:avLst/>
          </a:prstGeom>
          <a:solidFill>
            <a:srgbClr val="3A86FF"/>
          </a:solidFill>
          <a:ln w="12700">
            <a:solidFill>
              <a:srgbClr val="3A86FF"/>
            </a:solidFill>
            <a:prstDash val="solid"/>
          </a:ln>
        </p:spPr>
      </p:sp>
      <p:sp>
        <p:nvSpPr>
          <p:cNvPr id="7" name="Shape 5"/>
          <p:cNvSpPr/>
          <p:nvPr/>
        </p:nvSpPr>
        <p:spPr>
          <a:xfrm>
            <a:off x="411480" y="1143000"/>
            <a:ext cx="502920" cy="502920"/>
          </a:xfrm>
          <a:prstGeom prst="rect">
            <a:avLst/>
          </a:prstGeom>
          <a:solidFill>
            <a:srgbClr val="3A86FF"/>
          </a:solidFill>
          <a:ln w="12700">
            <a:solidFill>
              <a:srgbClr val="3A86FF"/>
            </a:solidFill>
            <a:prstDash val="solid"/>
          </a:ln>
        </p:spPr>
      </p:sp>
      <p:sp>
        <p:nvSpPr>
          <p:cNvPr id="8" name="Text 6"/>
          <p:cNvSpPr/>
          <p:nvPr/>
        </p:nvSpPr>
        <p:spPr>
          <a:xfrm>
            <a:off x="411480" y="11430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051560" y="1143000"/>
            <a:ext cx="3291840" cy="45720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Functional Web Application</a:t>
            </a:r>
            <a:endParaRPr lang="en-US" sz="1300" dirty="0"/>
          </a:p>
        </p:txBody>
      </p:sp>
      <p:sp>
        <p:nvSpPr>
          <p:cNvPr id="10" name="Text 8"/>
          <p:cNvSpPr/>
          <p:nvPr/>
        </p:nvSpPr>
        <p:spPr>
          <a:xfrm>
            <a:off x="457200" y="1737360"/>
            <a:ext cx="3840480" cy="96012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A fully working StudyPlannerApp accessible via web browser — personal scheduling, optional GroupStudy, and AI matching.</a:t>
            </a:r>
            <a:endParaRPr lang="en-US" sz="1100" dirty="0"/>
          </a:p>
        </p:txBody>
      </p:sp>
      <p:sp>
        <p:nvSpPr>
          <p:cNvPr id="11" name="Shape 9"/>
          <p:cNvSpPr/>
          <p:nvPr/>
        </p:nvSpPr>
        <p:spPr>
          <a:xfrm>
            <a:off x="4709160" y="960120"/>
            <a:ext cx="4206240" cy="182880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4709160" y="960120"/>
            <a:ext cx="4206240" cy="73152"/>
          </a:xfrm>
          <a:prstGeom prst="rect">
            <a:avLst/>
          </a:prstGeom>
          <a:solidFill>
            <a:srgbClr val="6A4C93"/>
          </a:solidFill>
          <a:ln w="12700">
            <a:solidFill>
              <a:srgbClr val="6A4C93"/>
            </a:solidFill>
            <a:prstDash val="solid"/>
          </a:ln>
        </p:spPr>
      </p:sp>
      <p:sp>
        <p:nvSpPr>
          <p:cNvPr id="13" name="Shape 11"/>
          <p:cNvSpPr/>
          <p:nvPr/>
        </p:nvSpPr>
        <p:spPr>
          <a:xfrm>
            <a:off x="4846320" y="1143000"/>
            <a:ext cx="502920" cy="502920"/>
          </a:xfrm>
          <a:prstGeom prst="rect">
            <a:avLst/>
          </a:prstGeom>
          <a:solidFill>
            <a:srgbClr val="6A4C93"/>
          </a:solidFill>
          <a:ln w="12700">
            <a:solidFill>
              <a:srgbClr val="6A4C93"/>
            </a:solidFill>
            <a:prstDash val="solid"/>
          </a:ln>
        </p:spPr>
      </p:sp>
      <p:sp>
        <p:nvSpPr>
          <p:cNvPr id="14" name="Text 12"/>
          <p:cNvSpPr/>
          <p:nvPr/>
        </p:nvSpPr>
        <p:spPr>
          <a:xfrm>
            <a:off x="4846320" y="11430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5486400" y="1143000"/>
            <a:ext cx="3291840" cy="45720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AI Matching Engine</a:t>
            </a:r>
            <a:endParaRPr lang="en-US" sz="1300" dirty="0"/>
          </a:p>
        </p:txBody>
      </p:sp>
      <p:sp>
        <p:nvSpPr>
          <p:cNvPr id="16" name="Text 14"/>
          <p:cNvSpPr/>
          <p:nvPr/>
        </p:nvSpPr>
        <p:spPr>
          <a:xfrm>
            <a:off x="4892040" y="1737360"/>
            <a:ext cx="3840480" cy="96012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An integrated model achieving ≥75% user-perceived match relevance, validated against random assignment.</a:t>
            </a:r>
            <a:endParaRPr lang="en-US" sz="1100" dirty="0"/>
          </a:p>
        </p:txBody>
      </p:sp>
      <p:sp>
        <p:nvSpPr>
          <p:cNvPr id="17" name="Shape 15"/>
          <p:cNvSpPr/>
          <p:nvPr/>
        </p:nvSpPr>
        <p:spPr>
          <a:xfrm>
            <a:off x="274320" y="2971800"/>
            <a:ext cx="4206240" cy="182880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274320" y="2971800"/>
            <a:ext cx="4206240" cy="73152"/>
          </a:xfrm>
          <a:prstGeom prst="rect">
            <a:avLst/>
          </a:prstGeom>
          <a:solidFill>
            <a:srgbClr val="2D6A4F"/>
          </a:solidFill>
          <a:ln w="12700">
            <a:solidFill>
              <a:srgbClr val="2D6A4F"/>
            </a:solidFill>
            <a:prstDash val="solid"/>
          </a:ln>
        </p:spPr>
      </p:sp>
      <p:sp>
        <p:nvSpPr>
          <p:cNvPr id="19" name="Shape 17"/>
          <p:cNvSpPr/>
          <p:nvPr/>
        </p:nvSpPr>
        <p:spPr>
          <a:xfrm>
            <a:off x="411480" y="3154680"/>
            <a:ext cx="502920" cy="502920"/>
          </a:xfrm>
          <a:prstGeom prst="rect">
            <a:avLst/>
          </a:prstGeom>
          <a:solidFill>
            <a:srgbClr val="2D6A4F"/>
          </a:solidFill>
          <a:ln w="12700">
            <a:solidFill>
              <a:srgbClr val="2D6A4F"/>
            </a:solidFill>
            <a:prstDash val="solid"/>
          </a:ln>
        </p:spPr>
      </p:sp>
      <p:sp>
        <p:nvSpPr>
          <p:cNvPr id="20" name="Text 18"/>
          <p:cNvSpPr/>
          <p:nvPr/>
        </p:nvSpPr>
        <p:spPr>
          <a:xfrm>
            <a:off x="411480" y="3154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1051560" y="3154680"/>
            <a:ext cx="3291840" cy="45720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Evaluation Report</a:t>
            </a:r>
            <a:endParaRPr lang="en-US" sz="1300" dirty="0"/>
          </a:p>
        </p:txBody>
      </p:sp>
      <p:sp>
        <p:nvSpPr>
          <p:cNvPr id="22" name="Text 20"/>
          <p:cNvSpPr/>
          <p:nvPr/>
        </p:nvSpPr>
        <p:spPr>
          <a:xfrm>
            <a:off x="457200" y="3749040"/>
            <a:ext cx="3840480" cy="96012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User testing with ≥20 students — task completion rate (≥85%), AI accuracy metrics, and satisfaction questionnaire results.</a:t>
            </a:r>
            <a:endParaRPr lang="en-US" sz="1100" dirty="0"/>
          </a:p>
        </p:txBody>
      </p:sp>
      <p:sp>
        <p:nvSpPr>
          <p:cNvPr id="23" name="Shape 21"/>
          <p:cNvSpPr/>
          <p:nvPr/>
        </p:nvSpPr>
        <p:spPr>
          <a:xfrm>
            <a:off x="4709160" y="2971800"/>
            <a:ext cx="4206240" cy="182880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4709160" y="2971800"/>
            <a:ext cx="4206240" cy="73152"/>
          </a:xfrm>
          <a:prstGeom prst="rect">
            <a:avLst/>
          </a:prstGeom>
          <a:solidFill>
            <a:srgbClr val="E9C46A"/>
          </a:solidFill>
          <a:ln w="12700">
            <a:solidFill>
              <a:srgbClr val="E9C46A"/>
            </a:solidFill>
            <a:prstDash val="solid"/>
          </a:ln>
        </p:spPr>
      </p:sp>
      <p:sp>
        <p:nvSpPr>
          <p:cNvPr id="25" name="Shape 23"/>
          <p:cNvSpPr/>
          <p:nvPr/>
        </p:nvSpPr>
        <p:spPr>
          <a:xfrm>
            <a:off x="4846320" y="3154680"/>
            <a:ext cx="502920" cy="502920"/>
          </a:xfrm>
          <a:prstGeom prst="rect">
            <a:avLst/>
          </a:prstGeom>
          <a:solidFill>
            <a:srgbClr val="E9C46A"/>
          </a:solidFill>
          <a:ln w="12700">
            <a:solidFill>
              <a:srgbClr val="E9C46A"/>
            </a:solidFill>
            <a:prstDash val="solid"/>
          </a:ln>
        </p:spPr>
      </p:sp>
      <p:sp>
        <p:nvSpPr>
          <p:cNvPr id="26" name="Text 24"/>
          <p:cNvSpPr/>
          <p:nvPr/>
        </p:nvSpPr>
        <p:spPr>
          <a:xfrm>
            <a:off x="4846320" y="3154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p:nvPr/>
        </p:nvSpPr>
        <p:spPr>
          <a:xfrm>
            <a:off x="5486400" y="3154680"/>
            <a:ext cx="3291840" cy="45720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Full Documentation</a:t>
            </a:r>
            <a:endParaRPr lang="en-US" sz="1300" dirty="0"/>
          </a:p>
        </p:txBody>
      </p:sp>
      <p:sp>
        <p:nvSpPr>
          <p:cNvPr id="28" name="Text 26"/>
          <p:cNvSpPr/>
          <p:nvPr/>
        </p:nvSpPr>
        <p:spPr>
          <a:xfrm>
            <a:off x="4892040" y="3749040"/>
            <a:ext cx="3840480" cy="96012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System architecture diagrams (use case, ER, flow), API docs, database schema, developer guide, and final academic report.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3E"/>
          </a:solidFill>
          <a:ln w="12700">
            <a:solidFill>
              <a:srgbClr val="0D1B3E"/>
            </a:solidFill>
            <a:prstDash val="solid"/>
          </a:ln>
        </p:spPr>
      </p:sp>
      <p:sp>
        <p:nvSpPr>
          <p:cNvPr id="3" name="Text 1"/>
          <p:cNvSpPr/>
          <p:nvPr/>
        </p:nvSpPr>
        <p:spPr>
          <a:xfrm>
            <a:off x="365760" y="0"/>
            <a:ext cx="8229600" cy="50292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PROJECT TIMELINE</a:t>
            </a:r>
            <a:endParaRPr lang="en-US" sz="1300" dirty="0"/>
          </a:p>
        </p:txBody>
      </p:sp>
      <p:sp>
        <p:nvSpPr>
          <p:cNvPr id="4" name="Text 2"/>
          <p:cNvSpPr/>
          <p:nvPr/>
        </p:nvSpPr>
        <p:spPr>
          <a:xfrm>
            <a:off x="365760" y="566928"/>
            <a:ext cx="8412480" cy="347472"/>
          </a:xfrm>
          <a:prstGeom prst="rect">
            <a:avLst/>
          </a:prstGeom>
          <a:noFill/>
          <a:ln/>
        </p:spPr>
        <p:txBody>
          <a:bodyPr wrap="square" lIns="0" tIns="0" rIns="0" bIns="0"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16-week structured plan from proposal to submission</a:t>
            </a:r>
            <a:endParaRPr lang="en-US" sz="1100" dirty="0"/>
          </a:p>
        </p:txBody>
      </p:sp>
      <p:sp>
        <p:nvSpPr>
          <p:cNvPr id="5" name="Shape 3"/>
          <p:cNvSpPr/>
          <p:nvPr/>
        </p:nvSpPr>
        <p:spPr>
          <a:xfrm>
            <a:off x="457200" y="1005840"/>
            <a:ext cx="1052623" cy="640080"/>
          </a:xfrm>
          <a:prstGeom prst="rect">
            <a:avLst/>
          </a:prstGeom>
          <a:solidFill>
            <a:srgbClr val="94A3B8"/>
          </a:solidFill>
          <a:ln w="12700">
            <a:solidFill>
              <a:srgbClr val="94A3B8"/>
            </a:solidFill>
            <a:prstDash val="solid"/>
          </a:ln>
        </p:spPr>
      </p:sp>
      <p:sp>
        <p:nvSpPr>
          <p:cNvPr id="6" name="Text 4"/>
          <p:cNvSpPr/>
          <p:nvPr/>
        </p:nvSpPr>
        <p:spPr>
          <a:xfrm>
            <a:off x="457200" y="1005840"/>
            <a:ext cx="1052623"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Proposal</a:t>
            </a:r>
            <a:endParaRPr lang="en-US" sz="1100" dirty="0"/>
          </a:p>
        </p:txBody>
      </p:sp>
      <p:sp>
        <p:nvSpPr>
          <p:cNvPr id="7" name="Text 5"/>
          <p:cNvSpPr/>
          <p:nvPr/>
        </p:nvSpPr>
        <p:spPr>
          <a:xfrm>
            <a:off x="457200" y="1691640"/>
            <a:ext cx="1052623" cy="320040"/>
          </a:xfrm>
          <a:prstGeom prst="rect">
            <a:avLst/>
          </a:prstGeom>
          <a:noFill/>
          <a:ln/>
        </p:spPr>
        <p:txBody>
          <a:bodyPr wrap="square" rtlCol="0" anchor="ctr"/>
          <a:lstStyle/>
          <a:p>
            <a:pPr algn="ctr" indent="0" marL="0">
              <a:buNone/>
            </a:pPr>
            <a:r>
              <a:rPr lang="en-US" sz="900" dirty="0">
                <a:solidFill>
                  <a:srgbClr val="4A5568"/>
                </a:solidFill>
                <a:latin typeface="Calibri" pitchFamily="34" charset="0"/>
                <a:ea typeface="Calibri" pitchFamily="34" charset="-122"/>
                <a:cs typeface="Calibri" pitchFamily="34" charset="-120"/>
              </a:rPr>
              <a:t>Wk 1–2</a:t>
            </a:r>
            <a:endParaRPr lang="en-US" sz="900" dirty="0"/>
          </a:p>
        </p:txBody>
      </p:sp>
      <p:sp>
        <p:nvSpPr>
          <p:cNvPr id="8" name="Shape 6"/>
          <p:cNvSpPr/>
          <p:nvPr/>
        </p:nvSpPr>
        <p:spPr>
          <a:xfrm>
            <a:off x="484632" y="2103120"/>
            <a:ext cx="997759" cy="475488"/>
          </a:xfrm>
          <a:prstGeom prst="rect">
            <a:avLst/>
          </a:prstGeom>
          <a:solidFill>
            <a:srgbClr val="FFFFFF"/>
          </a:solidFill>
          <a:ln w="12700">
            <a:solidFill>
              <a:srgbClr val="94A3B8"/>
            </a:solidFill>
            <a:prstDash val="solid"/>
          </a:ln>
        </p:spPr>
      </p:sp>
      <p:sp>
        <p:nvSpPr>
          <p:cNvPr id="9" name="Text 7"/>
          <p:cNvSpPr/>
          <p:nvPr/>
        </p:nvSpPr>
        <p:spPr>
          <a:xfrm>
            <a:off x="521208" y="2103120"/>
            <a:ext cx="942895"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Proposal write-up</a:t>
            </a:r>
            <a:endParaRPr lang="en-US" sz="900" dirty="0"/>
          </a:p>
        </p:txBody>
      </p:sp>
      <p:sp>
        <p:nvSpPr>
          <p:cNvPr id="10" name="Shape 8"/>
          <p:cNvSpPr/>
          <p:nvPr/>
        </p:nvSpPr>
        <p:spPr>
          <a:xfrm>
            <a:off x="484632" y="2651760"/>
            <a:ext cx="997759" cy="475488"/>
          </a:xfrm>
          <a:prstGeom prst="rect">
            <a:avLst/>
          </a:prstGeom>
          <a:solidFill>
            <a:srgbClr val="FFFFFF"/>
          </a:solidFill>
          <a:ln w="12700">
            <a:solidFill>
              <a:srgbClr val="94A3B8"/>
            </a:solidFill>
            <a:prstDash val="solid"/>
          </a:ln>
        </p:spPr>
      </p:sp>
      <p:sp>
        <p:nvSpPr>
          <p:cNvPr id="11" name="Text 9"/>
          <p:cNvSpPr/>
          <p:nvPr/>
        </p:nvSpPr>
        <p:spPr>
          <a:xfrm>
            <a:off x="521208" y="2651760"/>
            <a:ext cx="942895"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Supervisor review</a:t>
            </a:r>
            <a:endParaRPr lang="en-US" sz="900" dirty="0"/>
          </a:p>
        </p:txBody>
      </p:sp>
      <p:sp>
        <p:nvSpPr>
          <p:cNvPr id="12" name="Shape 10"/>
          <p:cNvSpPr/>
          <p:nvPr/>
        </p:nvSpPr>
        <p:spPr>
          <a:xfrm>
            <a:off x="484632" y="3200400"/>
            <a:ext cx="997759" cy="475488"/>
          </a:xfrm>
          <a:prstGeom prst="rect">
            <a:avLst/>
          </a:prstGeom>
          <a:solidFill>
            <a:srgbClr val="FFFFFF"/>
          </a:solidFill>
          <a:ln w="12700">
            <a:solidFill>
              <a:srgbClr val="94A3B8"/>
            </a:solidFill>
            <a:prstDash val="solid"/>
          </a:ln>
        </p:spPr>
      </p:sp>
      <p:sp>
        <p:nvSpPr>
          <p:cNvPr id="13" name="Text 11"/>
          <p:cNvSpPr/>
          <p:nvPr/>
        </p:nvSpPr>
        <p:spPr>
          <a:xfrm>
            <a:off x="521208" y="3200400"/>
            <a:ext cx="942895"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Approval</a:t>
            </a:r>
            <a:endParaRPr lang="en-US" sz="900" dirty="0"/>
          </a:p>
        </p:txBody>
      </p:sp>
      <p:sp>
        <p:nvSpPr>
          <p:cNvPr id="14" name="Shape 12"/>
          <p:cNvSpPr/>
          <p:nvPr/>
        </p:nvSpPr>
        <p:spPr>
          <a:xfrm>
            <a:off x="1509823" y="1005840"/>
            <a:ext cx="1387549" cy="640080"/>
          </a:xfrm>
          <a:prstGeom prst="rect">
            <a:avLst/>
          </a:prstGeom>
          <a:solidFill>
            <a:srgbClr val="3A86FF"/>
          </a:solidFill>
          <a:ln w="12700">
            <a:solidFill>
              <a:srgbClr val="3A86FF"/>
            </a:solidFill>
            <a:prstDash val="solid"/>
          </a:ln>
        </p:spPr>
      </p:sp>
      <p:sp>
        <p:nvSpPr>
          <p:cNvPr id="15" name="Text 13"/>
          <p:cNvSpPr/>
          <p:nvPr/>
        </p:nvSpPr>
        <p:spPr>
          <a:xfrm>
            <a:off x="1509823" y="1005840"/>
            <a:ext cx="1387549"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Design</a:t>
            </a:r>
            <a:endParaRPr lang="en-US" sz="1100" dirty="0"/>
          </a:p>
        </p:txBody>
      </p:sp>
      <p:sp>
        <p:nvSpPr>
          <p:cNvPr id="16" name="Text 14"/>
          <p:cNvSpPr/>
          <p:nvPr/>
        </p:nvSpPr>
        <p:spPr>
          <a:xfrm>
            <a:off x="1509823" y="1691640"/>
            <a:ext cx="1387549" cy="320040"/>
          </a:xfrm>
          <a:prstGeom prst="rect">
            <a:avLst/>
          </a:prstGeom>
          <a:noFill/>
          <a:ln/>
        </p:spPr>
        <p:txBody>
          <a:bodyPr wrap="square" rtlCol="0" anchor="ctr"/>
          <a:lstStyle/>
          <a:p>
            <a:pPr algn="ctr" indent="0" marL="0">
              <a:buNone/>
            </a:pPr>
            <a:r>
              <a:rPr lang="en-US" sz="900" dirty="0">
                <a:solidFill>
                  <a:srgbClr val="4A5568"/>
                </a:solidFill>
                <a:latin typeface="Calibri" pitchFamily="34" charset="0"/>
                <a:ea typeface="Calibri" pitchFamily="34" charset="-122"/>
                <a:cs typeface="Calibri" pitchFamily="34" charset="-120"/>
              </a:rPr>
              <a:t>Wk 3–5</a:t>
            </a:r>
            <a:endParaRPr lang="en-US" sz="900" dirty="0"/>
          </a:p>
        </p:txBody>
      </p:sp>
      <p:sp>
        <p:nvSpPr>
          <p:cNvPr id="17" name="Shape 15"/>
          <p:cNvSpPr/>
          <p:nvPr/>
        </p:nvSpPr>
        <p:spPr>
          <a:xfrm>
            <a:off x="1537255" y="2103120"/>
            <a:ext cx="1332685" cy="475488"/>
          </a:xfrm>
          <a:prstGeom prst="rect">
            <a:avLst/>
          </a:prstGeom>
          <a:solidFill>
            <a:srgbClr val="FFFFFF"/>
          </a:solidFill>
          <a:ln w="12700">
            <a:solidFill>
              <a:srgbClr val="3A86FF"/>
            </a:solidFill>
            <a:prstDash val="solid"/>
          </a:ln>
        </p:spPr>
      </p:sp>
      <p:sp>
        <p:nvSpPr>
          <p:cNvPr id="18" name="Text 16"/>
          <p:cNvSpPr/>
          <p:nvPr/>
        </p:nvSpPr>
        <p:spPr>
          <a:xfrm>
            <a:off x="1573831" y="2103120"/>
            <a:ext cx="1277821"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System requirements</a:t>
            </a:r>
            <a:endParaRPr lang="en-US" sz="900" dirty="0"/>
          </a:p>
        </p:txBody>
      </p:sp>
      <p:sp>
        <p:nvSpPr>
          <p:cNvPr id="19" name="Shape 17"/>
          <p:cNvSpPr/>
          <p:nvPr/>
        </p:nvSpPr>
        <p:spPr>
          <a:xfrm>
            <a:off x="1537255" y="2651760"/>
            <a:ext cx="1332685" cy="475488"/>
          </a:xfrm>
          <a:prstGeom prst="rect">
            <a:avLst/>
          </a:prstGeom>
          <a:solidFill>
            <a:srgbClr val="FFFFFF"/>
          </a:solidFill>
          <a:ln w="12700">
            <a:solidFill>
              <a:srgbClr val="3A86FF"/>
            </a:solidFill>
            <a:prstDash val="solid"/>
          </a:ln>
        </p:spPr>
      </p:sp>
      <p:sp>
        <p:nvSpPr>
          <p:cNvPr id="20" name="Text 18"/>
          <p:cNvSpPr/>
          <p:nvPr/>
        </p:nvSpPr>
        <p:spPr>
          <a:xfrm>
            <a:off x="1573831" y="2651760"/>
            <a:ext cx="1277821"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Wireframes &amp; mockups</a:t>
            </a:r>
            <a:endParaRPr lang="en-US" sz="900" dirty="0"/>
          </a:p>
        </p:txBody>
      </p:sp>
      <p:sp>
        <p:nvSpPr>
          <p:cNvPr id="21" name="Shape 19"/>
          <p:cNvSpPr/>
          <p:nvPr/>
        </p:nvSpPr>
        <p:spPr>
          <a:xfrm>
            <a:off x="1537255" y="3200400"/>
            <a:ext cx="1332685" cy="475488"/>
          </a:xfrm>
          <a:prstGeom prst="rect">
            <a:avLst/>
          </a:prstGeom>
          <a:solidFill>
            <a:srgbClr val="FFFFFF"/>
          </a:solidFill>
          <a:ln w="12700">
            <a:solidFill>
              <a:srgbClr val="3A86FF"/>
            </a:solidFill>
            <a:prstDash val="solid"/>
          </a:ln>
        </p:spPr>
      </p:sp>
      <p:sp>
        <p:nvSpPr>
          <p:cNvPr id="22" name="Text 20"/>
          <p:cNvSpPr/>
          <p:nvPr/>
        </p:nvSpPr>
        <p:spPr>
          <a:xfrm>
            <a:off x="1573831" y="3200400"/>
            <a:ext cx="1277821"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Database schema</a:t>
            </a:r>
            <a:endParaRPr lang="en-US" sz="900" dirty="0"/>
          </a:p>
        </p:txBody>
      </p:sp>
      <p:sp>
        <p:nvSpPr>
          <p:cNvPr id="23" name="Shape 21"/>
          <p:cNvSpPr/>
          <p:nvPr/>
        </p:nvSpPr>
        <p:spPr>
          <a:xfrm>
            <a:off x="1537255" y="3749040"/>
            <a:ext cx="1332685" cy="475488"/>
          </a:xfrm>
          <a:prstGeom prst="rect">
            <a:avLst/>
          </a:prstGeom>
          <a:solidFill>
            <a:srgbClr val="FFFFFF"/>
          </a:solidFill>
          <a:ln w="12700">
            <a:solidFill>
              <a:srgbClr val="3A86FF"/>
            </a:solidFill>
            <a:prstDash val="solid"/>
          </a:ln>
        </p:spPr>
      </p:sp>
      <p:sp>
        <p:nvSpPr>
          <p:cNvPr id="24" name="Text 22"/>
          <p:cNvSpPr/>
          <p:nvPr/>
        </p:nvSpPr>
        <p:spPr>
          <a:xfrm>
            <a:off x="1573831" y="3749040"/>
            <a:ext cx="1277821"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AI model spec</a:t>
            </a:r>
            <a:endParaRPr lang="en-US" sz="900" dirty="0"/>
          </a:p>
        </p:txBody>
      </p:sp>
      <p:sp>
        <p:nvSpPr>
          <p:cNvPr id="25" name="Shape 23"/>
          <p:cNvSpPr/>
          <p:nvPr/>
        </p:nvSpPr>
        <p:spPr>
          <a:xfrm>
            <a:off x="2897372" y="1005840"/>
            <a:ext cx="2296633" cy="640080"/>
          </a:xfrm>
          <a:prstGeom prst="rect">
            <a:avLst/>
          </a:prstGeom>
          <a:solidFill>
            <a:srgbClr val="6A4C93"/>
          </a:solidFill>
          <a:ln w="12700">
            <a:solidFill>
              <a:srgbClr val="6A4C93"/>
            </a:solidFill>
            <a:prstDash val="solid"/>
          </a:ln>
        </p:spPr>
      </p:sp>
      <p:sp>
        <p:nvSpPr>
          <p:cNvPr id="26" name="Text 24"/>
          <p:cNvSpPr/>
          <p:nvPr/>
        </p:nvSpPr>
        <p:spPr>
          <a:xfrm>
            <a:off x="2897372" y="1005840"/>
            <a:ext cx="2296633"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Development</a:t>
            </a:r>
            <a:endParaRPr lang="en-US" sz="1100" dirty="0"/>
          </a:p>
        </p:txBody>
      </p:sp>
      <p:sp>
        <p:nvSpPr>
          <p:cNvPr id="27" name="Text 25"/>
          <p:cNvSpPr/>
          <p:nvPr/>
        </p:nvSpPr>
        <p:spPr>
          <a:xfrm>
            <a:off x="2897372" y="1691640"/>
            <a:ext cx="2296633" cy="320040"/>
          </a:xfrm>
          <a:prstGeom prst="rect">
            <a:avLst/>
          </a:prstGeom>
          <a:noFill/>
          <a:ln/>
        </p:spPr>
        <p:txBody>
          <a:bodyPr wrap="square" rtlCol="0" anchor="ctr"/>
          <a:lstStyle/>
          <a:p>
            <a:pPr algn="ctr" indent="0" marL="0">
              <a:buNone/>
            </a:pPr>
            <a:r>
              <a:rPr lang="en-US" sz="900" dirty="0">
                <a:solidFill>
                  <a:srgbClr val="4A5568"/>
                </a:solidFill>
                <a:latin typeface="Calibri" pitchFamily="34" charset="0"/>
                <a:ea typeface="Calibri" pitchFamily="34" charset="-122"/>
                <a:cs typeface="Calibri" pitchFamily="34" charset="-120"/>
              </a:rPr>
              <a:t>Wk 6–10</a:t>
            </a:r>
            <a:endParaRPr lang="en-US" sz="900" dirty="0"/>
          </a:p>
        </p:txBody>
      </p:sp>
      <p:sp>
        <p:nvSpPr>
          <p:cNvPr id="28" name="Shape 26"/>
          <p:cNvSpPr/>
          <p:nvPr/>
        </p:nvSpPr>
        <p:spPr>
          <a:xfrm>
            <a:off x="2924804" y="2103120"/>
            <a:ext cx="2241769" cy="475488"/>
          </a:xfrm>
          <a:prstGeom prst="rect">
            <a:avLst/>
          </a:prstGeom>
          <a:solidFill>
            <a:srgbClr val="FFFFFF"/>
          </a:solidFill>
          <a:ln w="12700">
            <a:solidFill>
              <a:srgbClr val="6A4C93"/>
            </a:solidFill>
            <a:prstDash val="solid"/>
          </a:ln>
        </p:spPr>
      </p:sp>
      <p:sp>
        <p:nvSpPr>
          <p:cNvPr id="29" name="Text 27"/>
          <p:cNvSpPr/>
          <p:nvPr/>
        </p:nvSpPr>
        <p:spPr>
          <a:xfrm>
            <a:off x="2961380" y="2103120"/>
            <a:ext cx="2186905"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User auth module</a:t>
            </a:r>
            <a:endParaRPr lang="en-US" sz="900" dirty="0"/>
          </a:p>
        </p:txBody>
      </p:sp>
      <p:sp>
        <p:nvSpPr>
          <p:cNvPr id="30" name="Shape 28"/>
          <p:cNvSpPr/>
          <p:nvPr/>
        </p:nvSpPr>
        <p:spPr>
          <a:xfrm>
            <a:off x="2924804" y="2651760"/>
            <a:ext cx="2241769" cy="475488"/>
          </a:xfrm>
          <a:prstGeom prst="rect">
            <a:avLst/>
          </a:prstGeom>
          <a:solidFill>
            <a:srgbClr val="FFFFFF"/>
          </a:solidFill>
          <a:ln w="12700">
            <a:solidFill>
              <a:srgbClr val="6A4C93"/>
            </a:solidFill>
            <a:prstDash val="solid"/>
          </a:ln>
        </p:spPr>
      </p:sp>
      <p:sp>
        <p:nvSpPr>
          <p:cNvPr id="31" name="Text 29"/>
          <p:cNvSpPr/>
          <p:nvPr/>
        </p:nvSpPr>
        <p:spPr>
          <a:xfrm>
            <a:off x="2961380" y="2651760"/>
            <a:ext cx="2186905"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Schedule feature</a:t>
            </a:r>
            <a:endParaRPr lang="en-US" sz="900" dirty="0"/>
          </a:p>
        </p:txBody>
      </p:sp>
      <p:sp>
        <p:nvSpPr>
          <p:cNvPr id="32" name="Shape 30"/>
          <p:cNvSpPr/>
          <p:nvPr/>
        </p:nvSpPr>
        <p:spPr>
          <a:xfrm>
            <a:off x="2924804" y="3200400"/>
            <a:ext cx="2241769" cy="475488"/>
          </a:xfrm>
          <a:prstGeom prst="rect">
            <a:avLst/>
          </a:prstGeom>
          <a:solidFill>
            <a:srgbClr val="FFFFFF"/>
          </a:solidFill>
          <a:ln w="12700">
            <a:solidFill>
              <a:srgbClr val="6A4C93"/>
            </a:solidFill>
            <a:prstDash val="solid"/>
          </a:ln>
        </p:spPr>
      </p:sp>
      <p:sp>
        <p:nvSpPr>
          <p:cNvPr id="33" name="Text 31"/>
          <p:cNvSpPr/>
          <p:nvPr/>
        </p:nvSpPr>
        <p:spPr>
          <a:xfrm>
            <a:off x="2961380" y="3200400"/>
            <a:ext cx="2186905"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GroupStudy feature</a:t>
            </a:r>
            <a:endParaRPr lang="en-US" sz="900" dirty="0"/>
          </a:p>
        </p:txBody>
      </p:sp>
      <p:sp>
        <p:nvSpPr>
          <p:cNvPr id="34" name="Shape 32"/>
          <p:cNvSpPr/>
          <p:nvPr/>
        </p:nvSpPr>
        <p:spPr>
          <a:xfrm>
            <a:off x="2924804" y="3749040"/>
            <a:ext cx="2241769" cy="475488"/>
          </a:xfrm>
          <a:prstGeom prst="rect">
            <a:avLst/>
          </a:prstGeom>
          <a:solidFill>
            <a:srgbClr val="FFFFFF"/>
          </a:solidFill>
          <a:ln w="12700">
            <a:solidFill>
              <a:srgbClr val="6A4C93"/>
            </a:solidFill>
            <a:prstDash val="solid"/>
          </a:ln>
        </p:spPr>
      </p:sp>
      <p:sp>
        <p:nvSpPr>
          <p:cNvPr id="35" name="Text 33"/>
          <p:cNvSpPr/>
          <p:nvPr/>
        </p:nvSpPr>
        <p:spPr>
          <a:xfrm>
            <a:off x="2961380" y="3749040"/>
            <a:ext cx="2186905"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AI engine</a:t>
            </a:r>
            <a:endParaRPr lang="en-US" sz="900" dirty="0"/>
          </a:p>
        </p:txBody>
      </p:sp>
      <p:sp>
        <p:nvSpPr>
          <p:cNvPr id="36" name="Shape 34"/>
          <p:cNvSpPr/>
          <p:nvPr/>
        </p:nvSpPr>
        <p:spPr>
          <a:xfrm>
            <a:off x="2924804" y="4297680"/>
            <a:ext cx="2241769" cy="475488"/>
          </a:xfrm>
          <a:prstGeom prst="rect">
            <a:avLst/>
          </a:prstGeom>
          <a:solidFill>
            <a:srgbClr val="FFFFFF"/>
          </a:solidFill>
          <a:ln w="12700">
            <a:solidFill>
              <a:srgbClr val="6A4C93"/>
            </a:solidFill>
            <a:prstDash val="solid"/>
          </a:ln>
        </p:spPr>
      </p:sp>
      <p:sp>
        <p:nvSpPr>
          <p:cNvPr id="37" name="Text 35"/>
          <p:cNvSpPr/>
          <p:nvPr/>
        </p:nvSpPr>
        <p:spPr>
          <a:xfrm>
            <a:off x="2961380" y="4297680"/>
            <a:ext cx="2186905"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Frontend UI</a:t>
            </a:r>
            <a:endParaRPr lang="en-US" sz="900" dirty="0"/>
          </a:p>
        </p:txBody>
      </p:sp>
      <p:sp>
        <p:nvSpPr>
          <p:cNvPr id="38" name="Shape 36"/>
          <p:cNvSpPr/>
          <p:nvPr/>
        </p:nvSpPr>
        <p:spPr>
          <a:xfrm>
            <a:off x="5194005" y="1005840"/>
            <a:ext cx="717698" cy="640080"/>
          </a:xfrm>
          <a:prstGeom prst="rect">
            <a:avLst/>
          </a:prstGeom>
          <a:solidFill>
            <a:srgbClr val="2D6A4F"/>
          </a:solidFill>
          <a:ln w="12700">
            <a:solidFill>
              <a:srgbClr val="2D6A4F"/>
            </a:solidFill>
            <a:prstDash val="solid"/>
          </a:ln>
        </p:spPr>
      </p:sp>
      <p:sp>
        <p:nvSpPr>
          <p:cNvPr id="39" name="Text 37"/>
          <p:cNvSpPr/>
          <p:nvPr/>
        </p:nvSpPr>
        <p:spPr>
          <a:xfrm>
            <a:off x="5194005" y="1005840"/>
            <a:ext cx="717698"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Evaluation</a:t>
            </a:r>
            <a:endParaRPr lang="en-US" sz="900" dirty="0"/>
          </a:p>
        </p:txBody>
      </p:sp>
      <p:sp>
        <p:nvSpPr>
          <p:cNvPr id="40" name="Text 38"/>
          <p:cNvSpPr/>
          <p:nvPr/>
        </p:nvSpPr>
        <p:spPr>
          <a:xfrm>
            <a:off x="5194005" y="1691640"/>
            <a:ext cx="717698" cy="320040"/>
          </a:xfrm>
          <a:prstGeom prst="rect">
            <a:avLst/>
          </a:prstGeom>
          <a:noFill/>
          <a:ln/>
        </p:spPr>
        <p:txBody>
          <a:bodyPr wrap="square" rtlCol="0" anchor="ctr"/>
          <a:lstStyle/>
          <a:p>
            <a:pPr algn="ctr" indent="0" marL="0">
              <a:buNone/>
            </a:pPr>
            <a:r>
              <a:rPr lang="en-US" sz="900" dirty="0">
                <a:solidFill>
                  <a:srgbClr val="4A5568"/>
                </a:solidFill>
                <a:latin typeface="Calibri" pitchFamily="34" charset="0"/>
                <a:ea typeface="Calibri" pitchFamily="34" charset="-122"/>
                <a:cs typeface="Calibri" pitchFamily="34" charset="-120"/>
              </a:rPr>
              <a:t>Wk 11</a:t>
            </a:r>
            <a:endParaRPr lang="en-US" sz="900" dirty="0"/>
          </a:p>
        </p:txBody>
      </p:sp>
      <p:sp>
        <p:nvSpPr>
          <p:cNvPr id="41" name="Shape 39"/>
          <p:cNvSpPr/>
          <p:nvPr/>
        </p:nvSpPr>
        <p:spPr>
          <a:xfrm>
            <a:off x="5221437" y="2103120"/>
            <a:ext cx="662834" cy="475488"/>
          </a:xfrm>
          <a:prstGeom prst="rect">
            <a:avLst/>
          </a:prstGeom>
          <a:solidFill>
            <a:srgbClr val="FFFFFF"/>
          </a:solidFill>
          <a:ln w="12700">
            <a:solidFill>
              <a:srgbClr val="2D6A4F"/>
            </a:solidFill>
            <a:prstDash val="solid"/>
          </a:ln>
        </p:spPr>
      </p:sp>
      <p:sp>
        <p:nvSpPr>
          <p:cNvPr id="42" name="Text 40"/>
          <p:cNvSpPr/>
          <p:nvPr/>
        </p:nvSpPr>
        <p:spPr>
          <a:xfrm>
            <a:off x="5258013" y="2103120"/>
            <a:ext cx="607970"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User testing (20+ students)</a:t>
            </a:r>
            <a:endParaRPr lang="en-US" sz="900" dirty="0"/>
          </a:p>
        </p:txBody>
      </p:sp>
      <p:sp>
        <p:nvSpPr>
          <p:cNvPr id="43" name="Shape 41"/>
          <p:cNvSpPr/>
          <p:nvPr/>
        </p:nvSpPr>
        <p:spPr>
          <a:xfrm>
            <a:off x="5221437" y="2651760"/>
            <a:ext cx="662834" cy="475488"/>
          </a:xfrm>
          <a:prstGeom prst="rect">
            <a:avLst/>
          </a:prstGeom>
          <a:solidFill>
            <a:srgbClr val="FFFFFF"/>
          </a:solidFill>
          <a:ln w="12700">
            <a:solidFill>
              <a:srgbClr val="2D6A4F"/>
            </a:solidFill>
            <a:prstDash val="solid"/>
          </a:ln>
        </p:spPr>
      </p:sp>
      <p:sp>
        <p:nvSpPr>
          <p:cNvPr id="44" name="Text 42"/>
          <p:cNvSpPr/>
          <p:nvPr/>
        </p:nvSpPr>
        <p:spPr>
          <a:xfrm>
            <a:off x="5258013" y="2651760"/>
            <a:ext cx="607970"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Satisfaction survey</a:t>
            </a:r>
            <a:endParaRPr lang="en-US" sz="900" dirty="0"/>
          </a:p>
        </p:txBody>
      </p:sp>
      <p:sp>
        <p:nvSpPr>
          <p:cNvPr id="45" name="Shape 43"/>
          <p:cNvSpPr/>
          <p:nvPr/>
        </p:nvSpPr>
        <p:spPr>
          <a:xfrm>
            <a:off x="5221437" y="3200400"/>
            <a:ext cx="662834" cy="475488"/>
          </a:xfrm>
          <a:prstGeom prst="rect">
            <a:avLst/>
          </a:prstGeom>
          <a:solidFill>
            <a:srgbClr val="FFFFFF"/>
          </a:solidFill>
          <a:ln w="12700">
            <a:solidFill>
              <a:srgbClr val="2D6A4F"/>
            </a:solidFill>
            <a:prstDash val="solid"/>
          </a:ln>
        </p:spPr>
      </p:sp>
      <p:sp>
        <p:nvSpPr>
          <p:cNvPr id="46" name="Text 44"/>
          <p:cNvSpPr/>
          <p:nvPr/>
        </p:nvSpPr>
        <p:spPr>
          <a:xfrm>
            <a:off x="5258013" y="3200400"/>
            <a:ext cx="607970"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Metrics analysis</a:t>
            </a:r>
            <a:endParaRPr lang="en-US" sz="900" dirty="0"/>
          </a:p>
        </p:txBody>
      </p:sp>
      <p:sp>
        <p:nvSpPr>
          <p:cNvPr id="47" name="Shape 45"/>
          <p:cNvSpPr/>
          <p:nvPr/>
        </p:nvSpPr>
        <p:spPr>
          <a:xfrm>
            <a:off x="5911702" y="1005840"/>
            <a:ext cx="1052623" cy="640080"/>
          </a:xfrm>
          <a:prstGeom prst="rect">
            <a:avLst/>
          </a:prstGeom>
          <a:solidFill>
            <a:srgbClr val="E9C46A"/>
          </a:solidFill>
          <a:ln w="12700">
            <a:solidFill>
              <a:srgbClr val="E9C46A"/>
            </a:solidFill>
            <a:prstDash val="solid"/>
          </a:ln>
        </p:spPr>
      </p:sp>
      <p:sp>
        <p:nvSpPr>
          <p:cNvPr id="48" name="Text 46"/>
          <p:cNvSpPr/>
          <p:nvPr/>
        </p:nvSpPr>
        <p:spPr>
          <a:xfrm>
            <a:off x="5911702" y="1005840"/>
            <a:ext cx="1052623"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Testing</a:t>
            </a:r>
            <a:endParaRPr lang="en-US" sz="1100" dirty="0"/>
          </a:p>
        </p:txBody>
      </p:sp>
      <p:sp>
        <p:nvSpPr>
          <p:cNvPr id="49" name="Text 47"/>
          <p:cNvSpPr/>
          <p:nvPr/>
        </p:nvSpPr>
        <p:spPr>
          <a:xfrm>
            <a:off x="5911702" y="1691640"/>
            <a:ext cx="1052623" cy="320040"/>
          </a:xfrm>
          <a:prstGeom prst="rect">
            <a:avLst/>
          </a:prstGeom>
          <a:noFill/>
          <a:ln/>
        </p:spPr>
        <p:txBody>
          <a:bodyPr wrap="square" rtlCol="0" anchor="ctr"/>
          <a:lstStyle/>
          <a:p>
            <a:pPr algn="ctr" indent="0" marL="0">
              <a:buNone/>
            </a:pPr>
            <a:r>
              <a:rPr lang="en-US" sz="900" dirty="0">
                <a:solidFill>
                  <a:srgbClr val="4A5568"/>
                </a:solidFill>
                <a:latin typeface="Calibri" pitchFamily="34" charset="0"/>
                <a:ea typeface="Calibri" pitchFamily="34" charset="-122"/>
                <a:cs typeface="Calibri" pitchFamily="34" charset="-120"/>
              </a:rPr>
              <a:t>Wk 12–13</a:t>
            </a:r>
            <a:endParaRPr lang="en-US" sz="900" dirty="0"/>
          </a:p>
        </p:txBody>
      </p:sp>
      <p:sp>
        <p:nvSpPr>
          <p:cNvPr id="50" name="Shape 48"/>
          <p:cNvSpPr/>
          <p:nvPr/>
        </p:nvSpPr>
        <p:spPr>
          <a:xfrm>
            <a:off x="5939134" y="2103120"/>
            <a:ext cx="997759" cy="475488"/>
          </a:xfrm>
          <a:prstGeom prst="rect">
            <a:avLst/>
          </a:prstGeom>
          <a:solidFill>
            <a:srgbClr val="FFFFFF"/>
          </a:solidFill>
          <a:ln w="12700">
            <a:solidFill>
              <a:srgbClr val="E9C46A"/>
            </a:solidFill>
            <a:prstDash val="solid"/>
          </a:ln>
        </p:spPr>
      </p:sp>
      <p:sp>
        <p:nvSpPr>
          <p:cNvPr id="51" name="Text 49"/>
          <p:cNvSpPr/>
          <p:nvPr/>
        </p:nvSpPr>
        <p:spPr>
          <a:xfrm>
            <a:off x="5975710" y="2103120"/>
            <a:ext cx="942895"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Integration testing</a:t>
            </a:r>
            <a:endParaRPr lang="en-US" sz="900" dirty="0"/>
          </a:p>
        </p:txBody>
      </p:sp>
      <p:sp>
        <p:nvSpPr>
          <p:cNvPr id="52" name="Shape 50"/>
          <p:cNvSpPr/>
          <p:nvPr/>
        </p:nvSpPr>
        <p:spPr>
          <a:xfrm>
            <a:off x="5939134" y="2651760"/>
            <a:ext cx="997759" cy="475488"/>
          </a:xfrm>
          <a:prstGeom prst="rect">
            <a:avLst/>
          </a:prstGeom>
          <a:solidFill>
            <a:srgbClr val="FFFFFF"/>
          </a:solidFill>
          <a:ln w="12700">
            <a:solidFill>
              <a:srgbClr val="E9C46A"/>
            </a:solidFill>
            <a:prstDash val="solid"/>
          </a:ln>
        </p:spPr>
      </p:sp>
      <p:sp>
        <p:nvSpPr>
          <p:cNvPr id="53" name="Text 51"/>
          <p:cNvSpPr/>
          <p:nvPr/>
        </p:nvSpPr>
        <p:spPr>
          <a:xfrm>
            <a:off x="5975710" y="2651760"/>
            <a:ext cx="942895"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Bug fixes</a:t>
            </a:r>
            <a:endParaRPr lang="en-US" sz="900" dirty="0"/>
          </a:p>
        </p:txBody>
      </p:sp>
      <p:sp>
        <p:nvSpPr>
          <p:cNvPr id="54" name="Shape 52"/>
          <p:cNvSpPr/>
          <p:nvPr/>
        </p:nvSpPr>
        <p:spPr>
          <a:xfrm>
            <a:off x="5939134" y="3200400"/>
            <a:ext cx="997759" cy="475488"/>
          </a:xfrm>
          <a:prstGeom prst="rect">
            <a:avLst/>
          </a:prstGeom>
          <a:solidFill>
            <a:srgbClr val="FFFFFF"/>
          </a:solidFill>
          <a:ln w="12700">
            <a:solidFill>
              <a:srgbClr val="E9C46A"/>
            </a:solidFill>
            <a:prstDash val="solid"/>
          </a:ln>
        </p:spPr>
      </p:sp>
      <p:sp>
        <p:nvSpPr>
          <p:cNvPr id="55" name="Text 53"/>
          <p:cNvSpPr/>
          <p:nvPr/>
        </p:nvSpPr>
        <p:spPr>
          <a:xfrm>
            <a:off x="5975710" y="3200400"/>
            <a:ext cx="942895"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Performance tuning</a:t>
            </a:r>
            <a:endParaRPr lang="en-US" sz="900" dirty="0"/>
          </a:p>
        </p:txBody>
      </p:sp>
      <p:sp>
        <p:nvSpPr>
          <p:cNvPr id="56" name="Shape 54"/>
          <p:cNvSpPr/>
          <p:nvPr/>
        </p:nvSpPr>
        <p:spPr>
          <a:xfrm>
            <a:off x="6964326" y="1005840"/>
            <a:ext cx="1052623" cy="640080"/>
          </a:xfrm>
          <a:prstGeom prst="rect">
            <a:avLst/>
          </a:prstGeom>
          <a:solidFill>
            <a:srgbClr val="F97316"/>
          </a:solidFill>
          <a:ln w="12700">
            <a:solidFill>
              <a:srgbClr val="F97316"/>
            </a:solidFill>
            <a:prstDash val="solid"/>
          </a:ln>
        </p:spPr>
      </p:sp>
      <p:sp>
        <p:nvSpPr>
          <p:cNvPr id="57" name="Text 55"/>
          <p:cNvSpPr/>
          <p:nvPr/>
        </p:nvSpPr>
        <p:spPr>
          <a:xfrm>
            <a:off x="6964326" y="1005840"/>
            <a:ext cx="1052623"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Reporting</a:t>
            </a:r>
            <a:endParaRPr lang="en-US" sz="1100" dirty="0"/>
          </a:p>
        </p:txBody>
      </p:sp>
      <p:sp>
        <p:nvSpPr>
          <p:cNvPr id="58" name="Text 56"/>
          <p:cNvSpPr/>
          <p:nvPr/>
        </p:nvSpPr>
        <p:spPr>
          <a:xfrm>
            <a:off x="6964326" y="1691640"/>
            <a:ext cx="1052623" cy="320040"/>
          </a:xfrm>
          <a:prstGeom prst="rect">
            <a:avLst/>
          </a:prstGeom>
          <a:noFill/>
          <a:ln/>
        </p:spPr>
        <p:txBody>
          <a:bodyPr wrap="square" rtlCol="0" anchor="ctr"/>
          <a:lstStyle/>
          <a:p>
            <a:pPr algn="ctr" indent="0" marL="0">
              <a:buNone/>
            </a:pPr>
            <a:r>
              <a:rPr lang="en-US" sz="900" dirty="0">
                <a:solidFill>
                  <a:srgbClr val="4A5568"/>
                </a:solidFill>
                <a:latin typeface="Calibri" pitchFamily="34" charset="0"/>
                <a:ea typeface="Calibri" pitchFamily="34" charset="-122"/>
                <a:cs typeface="Calibri" pitchFamily="34" charset="-120"/>
              </a:rPr>
              <a:t>Wk 14–15</a:t>
            </a:r>
            <a:endParaRPr lang="en-US" sz="900" dirty="0"/>
          </a:p>
        </p:txBody>
      </p:sp>
      <p:sp>
        <p:nvSpPr>
          <p:cNvPr id="59" name="Shape 57"/>
          <p:cNvSpPr/>
          <p:nvPr/>
        </p:nvSpPr>
        <p:spPr>
          <a:xfrm>
            <a:off x="6991758" y="2103120"/>
            <a:ext cx="997759" cy="475488"/>
          </a:xfrm>
          <a:prstGeom prst="rect">
            <a:avLst/>
          </a:prstGeom>
          <a:solidFill>
            <a:srgbClr val="FFFFFF"/>
          </a:solidFill>
          <a:ln w="12700">
            <a:solidFill>
              <a:srgbClr val="F97316"/>
            </a:solidFill>
            <a:prstDash val="solid"/>
          </a:ln>
        </p:spPr>
      </p:sp>
      <p:sp>
        <p:nvSpPr>
          <p:cNvPr id="60" name="Text 58"/>
          <p:cNvSpPr/>
          <p:nvPr/>
        </p:nvSpPr>
        <p:spPr>
          <a:xfrm>
            <a:off x="7028334" y="2103120"/>
            <a:ext cx="942895"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Final project report</a:t>
            </a:r>
            <a:endParaRPr lang="en-US" sz="900" dirty="0"/>
          </a:p>
        </p:txBody>
      </p:sp>
      <p:sp>
        <p:nvSpPr>
          <p:cNvPr id="61" name="Shape 59"/>
          <p:cNvSpPr/>
          <p:nvPr/>
        </p:nvSpPr>
        <p:spPr>
          <a:xfrm>
            <a:off x="6991758" y="2651760"/>
            <a:ext cx="997759" cy="475488"/>
          </a:xfrm>
          <a:prstGeom prst="rect">
            <a:avLst/>
          </a:prstGeom>
          <a:solidFill>
            <a:srgbClr val="FFFFFF"/>
          </a:solidFill>
          <a:ln w="12700">
            <a:solidFill>
              <a:srgbClr val="F97316"/>
            </a:solidFill>
            <a:prstDash val="solid"/>
          </a:ln>
        </p:spPr>
      </p:sp>
      <p:sp>
        <p:nvSpPr>
          <p:cNvPr id="62" name="Text 60"/>
          <p:cNvSpPr/>
          <p:nvPr/>
        </p:nvSpPr>
        <p:spPr>
          <a:xfrm>
            <a:off x="7028334" y="2651760"/>
            <a:ext cx="942895"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Technical documentation</a:t>
            </a:r>
            <a:endParaRPr lang="en-US" sz="900" dirty="0"/>
          </a:p>
        </p:txBody>
      </p:sp>
      <p:sp>
        <p:nvSpPr>
          <p:cNvPr id="63" name="Shape 61"/>
          <p:cNvSpPr/>
          <p:nvPr/>
        </p:nvSpPr>
        <p:spPr>
          <a:xfrm>
            <a:off x="8016949" y="1005840"/>
            <a:ext cx="669851" cy="640080"/>
          </a:xfrm>
          <a:prstGeom prst="rect">
            <a:avLst/>
          </a:prstGeom>
          <a:solidFill>
            <a:srgbClr val="C1121F"/>
          </a:solidFill>
          <a:ln w="12700">
            <a:solidFill>
              <a:srgbClr val="C1121F"/>
            </a:solidFill>
            <a:prstDash val="solid"/>
          </a:ln>
        </p:spPr>
      </p:sp>
      <p:sp>
        <p:nvSpPr>
          <p:cNvPr id="64" name="Text 62"/>
          <p:cNvSpPr/>
          <p:nvPr/>
        </p:nvSpPr>
        <p:spPr>
          <a:xfrm>
            <a:off x="8016949" y="1005840"/>
            <a:ext cx="669851"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Submission</a:t>
            </a:r>
            <a:endParaRPr lang="en-US" sz="900" dirty="0"/>
          </a:p>
        </p:txBody>
      </p:sp>
      <p:sp>
        <p:nvSpPr>
          <p:cNvPr id="65" name="Text 63"/>
          <p:cNvSpPr/>
          <p:nvPr/>
        </p:nvSpPr>
        <p:spPr>
          <a:xfrm>
            <a:off x="8016949" y="1691640"/>
            <a:ext cx="669851" cy="320040"/>
          </a:xfrm>
          <a:prstGeom prst="rect">
            <a:avLst/>
          </a:prstGeom>
          <a:noFill/>
          <a:ln/>
        </p:spPr>
        <p:txBody>
          <a:bodyPr wrap="square" rtlCol="0" anchor="ctr"/>
          <a:lstStyle/>
          <a:p>
            <a:pPr algn="ctr" indent="0" marL="0">
              <a:buNone/>
            </a:pPr>
            <a:r>
              <a:rPr lang="en-US" sz="900" dirty="0">
                <a:solidFill>
                  <a:srgbClr val="4A5568"/>
                </a:solidFill>
                <a:latin typeface="Calibri" pitchFamily="34" charset="0"/>
                <a:ea typeface="Calibri" pitchFamily="34" charset="-122"/>
                <a:cs typeface="Calibri" pitchFamily="34" charset="-120"/>
              </a:rPr>
              <a:t>Wk 16</a:t>
            </a:r>
            <a:endParaRPr lang="en-US" sz="900" dirty="0"/>
          </a:p>
        </p:txBody>
      </p:sp>
      <p:sp>
        <p:nvSpPr>
          <p:cNvPr id="66" name="Shape 64"/>
          <p:cNvSpPr/>
          <p:nvPr/>
        </p:nvSpPr>
        <p:spPr>
          <a:xfrm>
            <a:off x="8044381" y="2103120"/>
            <a:ext cx="614987" cy="475488"/>
          </a:xfrm>
          <a:prstGeom prst="rect">
            <a:avLst/>
          </a:prstGeom>
          <a:solidFill>
            <a:srgbClr val="FFFFFF"/>
          </a:solidFill>
          <a:ln w="12700">
            <a:solidFill>
              <a:srgbClr val="C1121F"/>
            </a:solidFill>
            <a:prstDash val="solid"/>
          </a:ln>
        </p:spPr>
      </p:sp>
      <p:sp>
        <p:nvSpPr>
          <p:cNvPr id="67" name="Text 65"/>
          <p:cNvSpPr/>
          <p:nvPr/>
        </p:nvSpPr>
        <p:spPr>
          <a:xfrm>
            <a:off x="8080957" y="2103120"/>
            <a:ext cx="560123"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Submit report &amp; code</a:t>
            </a:r>
            <a:endParaRPr lang="en-US" sz="900" dirty="0"/>
          </a:p>
        </p:txBody>
      </p:sp>
      <p:sp>
        <p:nvSpPr>
          <p:cNvPr id="68" name="Shape 66"/>
          <p:cNvSpPr/>
          <p:nvPr/>
        </p:nvSpPr>
        <p:spPr>
          <a:xfrm>
            <a:off x="8044381" y="2651760"/>
            <a:ext cx="614987" cy="475488"/>
          </a:xfrm>
          <a:prstGeom prst="rect">
            <a:avLst/>
          </a:prstGeom>
          <a:solidFill>
            <a:srgbClr val="FFFFFF"/>
          </a:solidFill>
          <a:ln w="12700">
            <a:solidFill>
              <a:srgbClr val="C1121F"/>
            </a:solidFill>
            <a:prstDash val="solid"/>
          </a:ln>
        </p:spPr>
      </p:sp>
      <p:sp>
        <p:nvSpPr>
          <p:cNvPr id="69" name="Text 67"/>
          <p:cNvSpPr/>
          <p:nvPr/>
        </p:nvSpPr>
        <p:spPr>
          <a:xfrm>
            <a:off x="8080957" y="2651760"/>
            <a:ext cx="560123" cy="475488"/>
          </a:xfrm>
          <a:prstGeom prst="rect">
            <a:avLst/>
          </a:prstGeom>
          <a:noFill/>
          <a:ln/>
        </p:spPr>
        <p:txBody>
          <a:bodyPr wrap="square" rtlCol="0" anchor="ctr"/>
          <a:lstStyle/>
          <a:p>
            <a:pPr algn="ctr" indent="0" marL="0">
              <a:buNone/>
            </a:pPr>
            <a:r>
              <a:rPr lang="en-US" sz="900" dirty="0">
                <a:solidFill>
                  <a:srgbClr val="1A1A2E"/>
                </a:solidFill>
                <a:latin typeface="Calibri" pitchFamily="34" charset="0"/>
                <a:ea typeface="Calibri" pitchFamily="34" charset="-122"/>
                <a:cs typeface="Calibri" pitchFamily="34" charset="-120"/>
              </a:rPr>
              <a:t>Presentation prep</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3E"/>
          </a:solidFill>
          <a:ln w="12700">
            <a:solidFill>
              <a:srgbClr val="0D1B3E"/>
            </a:solidFill>
            <a:prstDash val="solid"/>
          </a:ln>
        </p:spPr>
      </p:sp>
      <p:sp>
        <p:nvSpPr>
          <p:cNvPr id="3" name="Text 1"/>
          <p:cNvSpPr/>
          <p:nvPr/>
        </p:nvSpPr>
        <p:spPr>
          <a:xfrm>
            <a:off x="365760" y="0"/>
            <a:ext cx="8229600" cy="50292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RISK ANALYSIS</a:t>
            </a:r>
            <a:endParaRPr lang="en-US" sz="1300" dirty="0"/>
          </a:p>
        </p:txBody>
      </p:sp>
      <p:sp>
        <p:nvSpPr>
          <p:cNvPr id="4" name="Text 2"/>
          <p:cNvSpPr/>
          <p:nvPr/>
        </p:nvSpPr>
        <p:spPr>
          <a:xfrm>
            <a:off x="365760" y="566928"/>
            <a:ext cx="8412480" cy="347472"/>
          </a:xfrm>
          <a:prstGeom prst="rect">
            <a:avLst/>
          </a:prstGeom>
          <a:noFill/>
          <a:ln/>
        </p:spPr>
        <p:txBody>
          <a:bodyPr wrap="square" lIns="0" tIns="0" rIns="0" bIns="0"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Anticipated risks and how they will be managed</a:t>
            </a:r>
            <a:endParaRPr lang="en-US" sz="1100" dirty="0"/>
          </a:p>
        </p:txBody>
      </p:sp>
      <p:sp>
        <p:nvSpPr>
          <p:cNvPr id="5" name="Shape 3"/>
          <p:cNvSpPr/>
          <p:nvPr/>
        </p:nvSpPr>
        <p:spPr>
          <a:xfrm>
            <a:off x="274320" y="914400"/>
            <a:ext cx="8595360" cy="411480"/>
          </a:xfrm>
          <a:prstGeom prst="rect">
            <a:avLst/>
          </a:prstGeom>
          <a:solidFill>
            <a:srgbClr val="1E2761"/>
          </a:solidFill>
          <a:ln w="12700">
            <a:solidFill>
              <a:srgbClr val="1E2761"/>
            </a:solidFill>
            <a:prstDash val="solid"/>
          </a:ln>
        </p:spPr>
      </p:sp>
      <p:sp>
        <p:nvSpPr>
          <p:cNvPr id="6" name="Text 4"/>
          <p:cNvSpPr/>
          <p:nvPr/>
        </p:nvSpPr>
        <p:spPr>
          <a:xfrm>
            <a:off x="320040" y="914400"/>
            <a:ext cx="24688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Risk</a:t>
            </a:r>
            <a:endParaRPr lang="en-US" sz="1100" dirty="0"/>
          </a:p>
        </p:txBody>
      </p:sp>
      <p:sp>
        <p:nvSpPr>
          <p:cNvPr id="7" name="Text 5"/>
          <p:cNvSpPr/>
          <p:nvPr/>
        </p:nvSpPr>
        <p:spPr>
          <a:xfrm>
            <a:off x="2834640" y="914400"/>
            <a:ext cx="10972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Impact</a:t>
            </a:r>
            <a:endParaRPr lang="en-US" sz="1100" dirty="0"/>
          </a:p>
        </p:txBody>
      </p:sp>
      <p:sp>
        <p:nvSpPr>
          <p:cNvPr id="8" name="Text 6"/>
          <p:cNvSpPr/>
          <p:nvPr/>
        </p:nvSpPr>
        <p:spPr>
          <a:xfrm>
            <a:off x="4023360" y="914400"/>
            <a:ext cx="10972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Likelihood</a:t>
            </a:r>
            <a:endParaRPr lang="en-US" sz="1100" dirty="0"/>
          </a:p>
        </p:txBody>
      </p:sp>
      <p:sp>
        <p:nvSpPr>
          <p:cNvPr id="9" name="Text 7"/>
          <p:cNvSpPr/>
          <p:nvPr/>
        </p:nvSpPr>
        <p:spPr>
          <a:xfrm>
            <a:off x="5166360" y="914400"/>
            <a:ext cx="36118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Mitigation Strategy</a:t>
            </a:r>
            <a:endParaRPr lang="en-US" sz="1100" dirty="0"/>
          </a:p>
        </p:txBody>
      </p:sp>
      <p:sp>
        <p:nvSpPr>
          <p:cNvPr id="10" name="Shape 8"/>
          <p:cNvSpPr/>
          <p:nvPr/>
        </p:nvSpPr>
        <p:spPr>
          <a:xfrm>
            <a:off x="274320" y="1371600"/>
            <a:ext cx="8595360" cy="576072"/>
          </a:xfrm>
          <a:prstGeom prst="rect">
            <a:avLst/>
          </a:prstGeom>
          <a:solidFill>
            <a:srgbClr val="FFFFFF"/>
          </a:solidFill>
          <a:ln w="12700">
            <a:solidFill>
              <a:srgbClr val="E5E7EB"/>
            </a:solidFill>
            <a:prstDash val="solid"/>
          </a:ln>
        </p:spPr>
      </p:sp>
      <p:sp>
        <p:nvSpPr>
          <p:cNvPr id="11" name="Shape 9"/>
          <p:cNvSpPr/>
          <p:nvPr/>
        </p:nvSpPr>
        <p:spPr>
          <a:xfrm>
            <a:off x="274320" y="1371600"/>
            <a:ext cx="64008" cy="576072"/>
          </a:xfrm>
          <a:prstGeom prst="rect">
            <a:avLst/>
          </a:prstGeom>
          <a:solidFill>
            <a:srgbClr val="3A86FF"/>
          </a:solidFill>
          <a:ln w="12700">
            <a:solidFill>
              <a:srgbClr val="3A86FF"/>
            </a:solidFill>
            <a:prstDash val="solid"/>
          </a:ln>
        </p:spPr>
      </p:sp>
      <p:sp>
        <p:nvSpPr>
          <p:cNvPr id="12" name="Text 10"/>
          <p:cNvSpPr/>
          <p:nvPr/>
        </p:nvSpPr>
        <p:spPr>
          <a:xfrm>
            <a:off x="457200" y="1371600"/>
            <a:ext cx="2331720" cy="57607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Low student participation in GroupStudy or testing</a:t>
            </a:r>
            <a:endParaRPr lang="en-US" sz="1050" dirty="0"/>
          </a:p>
        </p:txBody>
      </p:sp>
      <p:sp>
        <p:nvSpPr>
          <p:cNvPr id="13" name="Text 11"/>
          <p:cNvSpPr/>
          <p:nvPr/>
        </p:nvSpPr>
        <p:spPr>
          <a:xfrm>
            <a:off x="2834640" y="1371600"/>
            <a:ext cx="1097280" cy="576072"/>
          </a:xfrm>
          <a:prstGeom prst="rect">
            <a:avLst/>
          </a:prstGeom>
          <a:noFill/>
          <a:ln/>
        </p:spPr>
        <p:txBody>
          <a:bodyPr wrap="square"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High</a:t>
            </a:r>
            <a:endParaRPr lang="en-US" sz="1050" dirty="0"/>
          </a:p>
        </p:txBody>
      </p:sp>
      <p:sp>
        <p:nvSpPr>
          <p:cNvPr id="14" name="Text 12"/>
          <p:cNvSpPr/>
          <p:nvPr/>
        </p:nvSpPr>
        <p:spPr>
          <a:xfrm>
            <a:off x="4023360" y="1371600"/>
            <a:ext cx="1097280" cy="576072"/>
          </a:xfrm>
          <a:prstGeom prst="rect">
            <a:avLst/>
          </a:prstGeom>
          <a:noFill/>
          <a:ln/>
        </p:spPr>
        <p:txBody>
          <a:bodyPr wrap="square"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Medium</a:t>
            </a:r>
            <a:endParaRPr lang="en-US" sz="1050" dirty="0"/>
          </a:p>
        </p:txBody>
      </p:sp>
      <p:sp>
        <p:nvSpPr>
          <p:cNvPr id="15" name="Text 13"/>
          <p:cNvSpPr/>
          <p:nvPr/>
        </p:nvSpPr>
        <p:spPr>
          <a:xfrm>
            <a:off x="5166360" y="1371600"/>
            <a:ext cx="3611880" cy="576072"/>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Recruit early adopters in weeks 1–3; demonstrate the app to classmates informally; use peer encouragement to drive sign-ups.</a:t>
            </a:r>
            <a:endParaRPr lang="en-US" sz="1000" dirty="0"/>
          </a:p>
        </p:txBody>
      </p:sp>
      <p:sp>
        <p:nvSpPr>
          <p:cNvPr id="16" name="Shape 14"/>
          <p:cNvSpPr/>
          <p:nvPr/>
        </p:nvSpPr>
        <p:spPr>
          <a:xfrm>
            <a:off x="274320" y="1993392"/>
            <a:ext cx="8595360" cy="576072"/>
          </a:xfrm>
          <a:prstGeom prst="rect">
            <a:avLst/>
          </a:prstGeom>
          <a:solidFill>
            <a:srgbClr val="F8FAFF"/>
          </a:solidFill>
          <a:ln w="12700">
            <a:solidFill>
              <a:srgbClr val="E5E7EB"/>
            </a:solidFill>
            <a:prstDash val="solid"/>
          </a:ln>
        </p:spPr>
      </p:sp>
      <p:sp>
        <p:nvSpPr>
          <p:cNvPr id="17" name="Shape 15"/>
          <p:cNvSpPr/>
          <p:nvPr/>
        </p:nvSpPr>
        <p:spPr>
          <a:xfrm>
            <a:off x="274320" y="1993392"/>
            <a:ext cx="64008" cy="576072"/>
          </a:xfrm>
          <a:prstGeom prst="rect">
            <a:avLst/>
          </a:prstGeom>
          <a:solidFill>
            <a:srgbClr val="3A86FF"/>
          </a:solidFill>
          <a:ln w="12700">
            <a:solidFill>
              <a:srgbClr val="3A86FF"/>
            </a:solidFill>
            <a:prstDash val="solid"/>
          </a:ln>
        </p:spPr>
      </p:sp>
      <p:sp>
        <p:nvSpPr>
          <p:cNvPr id="18" name="Text 16"/>
          <p:cNvSpPr/>
          <p:nvPr/>
        </p:nvSpPr>
        <p:spPr>
          <a:xfrm>
            <a:off x="457200" y="1993392"/>
            <a:ext cx="2331720" cy="57607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Inaccurate AI matching results</a:t>
            </a:r>
            <a:endParaRPr lang="en-US" sz="1050" dirty="0"/>
          </a:p>
        </p:txBody>
      </p:sp>
      <p:sp>
        <p:nvSpPr>
          <p:cNvPr id="19" name="Text 17"/>
          <p:cNvSpPr/>
          <p:nvPr/>
        </p:nvSpPr>
        <p:spPr>
          <a:xfrm>
            <a:off x="2834640" y="1993392"/>
            <a:ext cx="1097280" cy="576072"/>
          </a:xfrm>
          <a:prstGeom prst="rect">
            <a:avLst/>
          </a:prstGeom>
          <a:noFill/>
          <a:ln/>
        </p:spPr>
        <p:txBody>
          <a:bodyPr wrap="square"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High</a:t>
            </a:r>
            <a:endParaRPr lang="en-US" sz="1050" dirty="0"/>
          </a:p>
        </p:txBody>
      </p:sp>
      <p:sp>
        <p:nvSpPr>
          <p:cNvPr id="20" name="Text 18"/>
          <p:cNvSpPr/>
          <p:nvPr/>
        </p:nvSpPr>
        <p:spPr>
          <a:xfrm>
            <a:off x="4023360" y="1993392"/>
            <a:ext cx="1097280" cy="576072"/>
          </a:xfrm>
          <a:prstGeom prst="rect">
            <a:avLst/>
          </a:prstGeom>
          <a:noFill/>
          <a:ln/>
        </p:spPr>
        <p:txBody>
          <a:bodyPr wrap="square"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Medium</a:t>
            </a:r>
            <a:endParaRPr lang="en-US" sz="1050" dirty="0"/>
          </a:p>
        </p:txBody>
      </p:sp>
      <p:sp>
        <p:nvSpPr>
          <p:cNvPr id="21" name="Text 19"/>
          <p:cNvSpPr/>
          <p:nvPr/>
        </p:nvSpPr>
        <p:spPr>
          <a:xfrm>
            <a:off x="5166360" y="1993392"/>
            <a:ext cx="3611880" cy="576072"/>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Validate model against random assignment; collect post-session feedback; refine iteratively throughout Sprint 3.</a:t>
            </a:r>
            <a:endParaRPr lang="en-US" sz="1000" dirty="0"/>
          </a:p>
        </p:txBody>
      </p:sp>
      <p:sp>
        <p:nvSpPr>
          <p:cNvPr id="22" name="Shape 20"/>
          <p:cNvSpPr/>
          <p:nvPr/>
        </p:nvSpPr>
        <p:spPr>
          <a:xfrm>
            <a:off x="274320" y="2615184"/>
            <a:ext cx="8595360" cy="576072"/>
          </a:xfrm>
          <a:prstGeom prst="rect">
            <a:avLst/>
          </a:prstGeom>
          <a:solidFill>
            <a:srgbClr val="FFFFFF"/>
          </a:solidFill>
          <a:ln w="12700">
            <a:solidFill>
              <a:srgbClr val="E5E7EB"/>
            </a:solidFill>
            <a:prstDash val="solid"/>
          </a:ln>
        </p:spPr>
      </p:sp>
      <p:sp>
        <p:nvSpPr>
          <p:cNvPr id="23" name="Shape 21"/>
          <p:cNvSpPr/>
          <p:nvPr/>
        </p:nvSpPr>
        <p:spPr>
          <a:xfrm>
            <a:off x="274320" y="2615184"/>
            <a:ext cx="64008" cy="576072"/>
          </a:xfrm>
          <a:prstGeom prst="rect">
            <a:avLst/>
          </a:prstGeom>
          <a:solidFill>
            <a:srgbClr val="3A86FF"/>
          </a:solidFill>
          <a:ln w="12700">
            <a:solidFill>
              <a:srgbClr val="3A86FF"/>
            </a:solidFill>
            <a:prstDash val="solid"/>
          </a:ln>
        </p:spPr>
      </p:sp>
      <p:sp>
        <p:nvSpPr>
          <p:cNvPr id="24" name="Text 22"/>
          <p:cNvSpPr/>
          <p:nvPr/>
        </p:nvSpPr>
        <p:spPr>
          <a:xfrm>
            <a:off x="457200" y="2615184"/>
            <a:ext cx="2331720" cy="57607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Technical bugs and integration failures</a:t>
            </a:r>
            <a:endParaRPr lang="en-US" sz="1050" dirty="0"/>
          </a:p>
        </p:txBody>
      </p:sp>
      <p:sp>
        <p:nvSpPr>
          <p:cNvPr id="25" name="Text 23"/>
          <p:cNvSpPr/>
          <p:nvPr/>
        </p:nvSpPr>
        <p:spPr>
          <a:xfrm>
            <a:off x="2834640" y="2615184"/>
            <a:ext cx="1097280" cy="576072"/>
          </a:xfrm>
          <a:prstGeom prst="rect">
            <a:avLst/>
          </a:prstGeom>
          <a:noFill/>
          <a:ln/>
        </p:spPr>
        <p:txBody>
          <a:bodyPr wrap="square"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Medium</a:t>
            </a:r>
            <a:endParaRPr lang="en-US" sz="1050" dirty="0"/>
          </a:p>
        </p:txBody>
      </p:sp>
      <p:sp>
        <p:nvSpPr>
          <p:cNvPr id="26" name="Text 24"/>
          <p:cNvSpPr/>
          <p:nvPr/>
        </p:nvSpPr>
        <p:spPr>
          <a:xfrm>
            <a:off x="4023360" y="2615184"/>
            <a:ext cx="1097280" cy="576072"/>
          </a:xfrm>
          <a:prstGeom prst="rect">
            <a:avLst/>
          </a:prstGeom>
          <a:noFill/>
          <a:ln/>
        </p:spPr>
        <p:txBody>
          <a:bodyPr wrap="square"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High</a:t>
            </a:r>
            <a:endParaRPr lang="en-US" sz="1050" dirty="0"/>
          </a:p>
        </p:txBody>
      </p:sp>
      <p:sp>
        <p:nvSpPr>
          <p:cNvPr id="27" name="Text 25"/>
          <p:cNvSpPr/>
          <p:nvPr/>
        </p:nvSpPr>
        <p:spPr>
          <a:xfrm>
            <a:off x="5166360" y="2615184"/>
            <a:ext cx="3611880" cy="576072"/>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Agile sprints with weekly code reviews; GitHub issues tracker; buffer time in Weeks 12–13 for bug fixing.</a:t>
            </a:r>
            <a:endParaRPr lang="en-US" sz="1000" dirty="0"/>
          </a:p>
        </p:txBody>
      </p:sp>
      <p:sp>
        <p:nvSpPr>
          <p:cNvPr id="28" name="Shape 26"/>
          <p:cNvSpPr/>
          <p:nvPr/>
        </p:nvSpPr>
        <p:spPr>
          <a:xfrm>
            <a:off x="274320" y="3236976"/>
            <a:ext cx="8595360" cy="576072"/>
          </a:xfrm>
          <a:prstGeom prst="rect">
            <a:avLst/>
          </a:prstGeom>
          <a:solidFill>
            <a:srgbClr val="F8FAFF"/>
          </a:solidFill>
          <a:ln w="12700">
            <a:solidFill>
              <a:srgbClr val="E5E7EB"/>
            </a:solidFill>
            <a:prstDash val="solid"/>
          </a:ln>
        </p:spPr>
      </p:sp>
      <p:sp>
        <p:nvSpPr>
          <p:cNvPr id="29" name="Shape 27"/>
          <p:cNvSpPr/>
          <p:nvPr/>
        </p:nvSpPr>
        <p:spPr>
          <a:xfrm>
            <a:off x="274320" y="3236976"/>
            <a:ext cx="64008" cy="576072"/>
          </a:xfrm>
          <a:prstGeom prst="rect">
            <a:avLst/>
          </a:prstGeom>
          <a:solidFill>
            <a:srgbClr val="3A86FF"/>
          </a:solidFill>
          <a:ln w="12700">
            <a:solidFill>
              <a:srgbClr val="3A86FF"/>
            </a:solidFill>
            <a:prstDash val="solid"/>
          </a:ln>
        </p:spPr>
      </p:sp>
      <p:sp>
        <p:nvSpPr>
          <p:cNvPr id="30" name="Text 28"/>
          <p:cNvSpPr/>
          <p:nvPr/>
        </p:nvSpPr>
        <p:spPr>
          <a:xfrm>
            <a:off x="457200" y="3236976"/>
            <a:ext cx="2331720" cy="57607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Scope creep and feature expansion</a:t>
            </a:r>
            <a:endParaRPr lang="en-US" sz="1050" dirty="0"/>
          </a:p>
        </p:txBody>
      </p:sp>
      <p:sp>
        <p:nvSpPr>
          <p:cNvPr id="31" name="Text 29"/>
          <p:cNvSpPr/>
          <p:nvPr/>
        </p:nvSpPr>
        <p:spPr>
          <a:xfrm>
            <a:off x="2834640" y="3236976"/>
            <a:ext cx="1097280" cy="576072"/>
          </a:xfrm>
          <a:prstGeom prst="rect">
            <a:avLst/>
          </a:prstGeom>
          <a:noFill/>
          <a:ln/>
        </p:spPr>
        <p:txBody>
          <a:bodyPr wrap="square"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Medium</a:t>
            </a:r>
            <a:endParaRPr lang="en-US" sz="1050" dirty="0"/>
          </a:p>
        </p:txBody>
      </p:sp>
      <p:sp>
        <p:nvSpPr>
          <p:cNvPr id="32" name="Text 30"/>
          <p:cNvSpPr/>
          <p:nvPr/>
        </p:nvSpPr>
        <p:spPr>
          <a:xfrm>
            <a:off x="4023360" y="3236976"/>
            <a:ext cx="1097280" cy="576072"/>
          </a:xfrm>
          <a:prstGeom prst="rect">
            <a:avLst/>
          </a:prstGeom>
          <a:noFill/>
          <a:ln/>
        </p:spPr>
        <p:txBody>
          <a:bodyPr wrap="square"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Medium</a:t>
            </a:r>
            <a:endParaRPr lang="en-US" sz="1050" dirty="0"/>
          </a:p>
        </p:txBody>
      </p:sp>
      <p:sp>
        <p:nvSpPr>
          <p:cNvPr id="33" name="Text 31"/>
          <p:cNvSpPr/>
          <p:nvPr/>
        </p:nvSpPr>
        <p:spPr>
          <a:xfrm>
            <a:off x="5166360" y="3236976"/>
            <a:ext cx="3611880" cy="576072"/>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Strictly adhere to defined scope; log new requests for future work; obtain supervisor sign-off before any change.</a:t>
            </a:r>
            <a:endParaRPr lang="en-US" sz="1000" dirty="0"/>
          </a:p>
        </p:txBody>
      </p:sp>
      <p:sp>
        <p:nvSpPr>
          <p:cNvPr id="34" name="Shape 32"/>
          <p:cNvSpPr/>
          <p:nvPr/>
        </p:nvSpPr>
        <p:spPr>
          <a:xfrm>
            <a:off x="274320" y="3858768"/>
            <a:ext cx="8595360" cy="576072"/>
          </a:xfrm>
          <a:prstGeom prst="rect">
            <a:avLst/>
          </a:prstGeom>
          <a:solidFill>
            <a:srgbClr val="FFFFFF"/>
          </a:solidFill>
          <a:ln w="12700">
            <a:solidFill>
              <a:srgbClr val="E5E7EB"/>
            </a:solidFill>
            <a:prstDash val="solid"/>
          </a:ln>
        </p:spPr>
      </p:sp>
      <p:sp>
        <p:nvSpPr>
          <p:cNvPr id="35" name="Shape 33"/>
          <p:cNvSpPr/>
          <p:nvPr/>
        </p:nvSpPr>
        <p:spPr>
          <a:xfrm>
            <a:off x="274320" y="3858768"/>
            <a:ext cx="64008" cy="576072"/>
          </a:xfrm>
          <a:prstGeom prst="rect">
            <a:avLst/>
          </a:prstGeom>
          <a:solidFill>
            <a:srgbClr val="3A86FF"/>
          </a:solidFill>
          <a:ln w="12700">
            <a:solidFill>
              <a:srgbClr val="3A86FF"/>
            </a:solidFill>
            <a:prstDash val="solid"/>
          </a:ln>
        </p:spPr>
      </p:sp>
      <p:sp>
        <p:nvSpPr>
          <p:cNvPr id="36" name="Text 34"/>
          <p:cNvSpPr/>
          <p:nvPr/>
        </p:nvSpPr>
        <p:spPr>
          <a:xfrm>
            <a:off x="457200" y="3858768"/>
            <a:ext cx="2331720" cy="57607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Data privacy or security breach</a:t>
            </a:r>
            <a:endParaRPr lang="en-US" sz="1050" dirty="0"/>
          </a:p>
        </p:txBody>
      </p:sp>
      <p:sp>
        <p:nvSpPr>
          <p:cNvPr id="37" name="Text 35"/>
          <p:cNvSpPr/>
          <p:nvPr/>
        </p:nvSpPr>
        <p:spPr>
          <a:xfrm>
            <a:off x="2834640" y="3858768"/>
            <a:ext cx="1097280" cy="576072"/>
          </a:xfrm>
          <a:prstGeom prst="rect">
            <a:avLst/>
          </a:prstGeom>
          <a:noFill/>
          <a:ln/>
        </p:spPr>
        <p:txBody>
          <a:bodyPr wrap="square"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High</a:t>
            </a:r>
            <a:endParaRPr lang="en-US" sz="1050" dirty="0"/>
          </a:p>
        </p:txBody>
      </p:sp>
      <p:sp>
        <p:nvSpPr>
          <p:cNvPr id="38" name="Text 36"/>
          <p:cNvSpPr/>
          <p:nvPr/>
        </p:nvSpPr>
        <p:spPr>
          <a:xfrm>
            <a:off x="4023360" y="3858768"/>
            <a:ext cx="1097280" cy="576072"/>
          </a:xfrm>
          <a:prstGeom prst="rect">
            <a:avLst/>
          </a:prstGeom>
          <a:noFill/>
          <a:ln/>
        </p:spPr>
        <p:txBody>
          <a:bodyPr wrap="square"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Low</a:t>
            </a:r>
            <a:endParaRPr lang="en-US" sz="1050" dirty="0"/>
          </a:p>
        </p:txBody>
      </p:sp>
      <p:sp>
        <p:nvSpPr>
          <p:cNvPr id="39" name="Text 37"/>
          <p:cNvSpPr/>
          <p:nvPr/>
        </p:nvSpPr>
        <p:spPr>
          <a:xfrm>
            <a:off x="5166360" y="3858768"/>
            <a:ext cx="3611880" cy="576072"/>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Implement HTTPS, bcrypt hashing, and role-based access control from Sprint 1; security review before user testing.</a:t>
            </a:r>
            <a:endParaRPr lang="en-US" sz="1000" dirty="0"/>
          </a:p>
        </p:txBody>
      </p:sp>
      <p:sp>
        <p:nvSpPr>
          <p:cNvPr id="40" name="Shape 38"/>
          <p:cNvSpPr/>
          <p:nvPr/>
        </p:nvSpPr>
        <p:spPr>
          <a:xfrm>
            <a:off x="274320" y="4480560"/>
            <a:ext cx="8595360" cy="576072"/>
          </a:xfrm>
          <a:prstGeom prst="rect">
            <a:avLst/>
          </a:prstGeom>
          <a:solidFill>
            <a:srgbClr val="F8FAFF"/>
          </a:solidFill>
          <a:ln w="12700">
            <a:solidFill>
              <a:srgbClr val="E5E7EB"/>
            </a:solidFill>
            <a:prstDash val="solid"/>
          </a:ln>
        </p:spPr>
      </p:sp>
      <p:sp>
        <p:nvSpPr>
          <p:cNvPr id="41" name="Shape 39"/>
          <p:cNvSpPr/>
          <p:nvPr/>
        </p:nvSpPr>
        <p:spPr>
          <a:xfrm>
            <a:off x="274320" y="4480560"/>
            <a:ext cx="64008" cy="576072"/>
          </a:xfrm>
          <a:prstGeom prst="rect">
            <a:avLst/>
          </a:prstGeom>
          <a:solidFill>
            <a:srgbClr val="3A86FF"/>
          </a:solidFill>
          <a:ln w="12700">
            <a:solidFill>
              <a:srgbClr val="3A86FF"/>
            </a:solidFill>
            <a:prstDash val="solid"/>
          </a:ln>
        </p:spPr>
      </p:sp>
      <p:sp>
        <p:nvSpPr>
          <p:cNvPr id="42" name="Text 40"/>
          <p:cNvSpPr/>
          <p:nvPr/>
        </p:nvSpPr>
        <p:spPr>
          <a:xfrm>
            <a:off x="457200" y="4480560"/>
            <a:ext cx="2331720" cy="57607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Key team member unavailability</a:t>
            </a:r>
            <a:endParaRPr lang="en-US" sz="1050" dirty="0"/>
          </a:p>
        </p:txBody>
      </p:sp>
      <p:sp>
        <p:nvSpPr>
          <p:cNvPr id="43" name="Text 41"/>
          <p:cNvSpPr/>
          <p:nvPr/>
        </p:nvSpPr>
        <p:spPr>
          <a:xfrm>
            <a:off x="2834640" y="4480560"/>
            <a:ext cx="1097280" cy="576072"/>
          </a:xfrm>
          <a:prstGeom prst="rect">
            <a:avLst/>
          </a:prstGeom>
          <a:noFill/>
          <a:ln/>
        </p:spPr>
        <p:txBody>
          <a:bodyPr wrap="square"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Medium</a:t>
            </a:r>
            <a:endParaRPr lang="en-US" sz="1050" dirty="0"/>
          </a:p>
        </p:txBody>
      </p:sp>
      <p:sp>
        <p:nvSpPr>
          <p:cNvPr id="44" name="Text 42"/>
          <p:cNvSpPr/>
          <p:nvPr/>
        </p:nvSpPr>
        <p:spPr>
          <a:xfrm>
            <a:off x="4023360" y="4480560"/>
            <a:ext cx="1097280" cy="576072"/>
          </a:xfrm>
          <a:prstGeom prst="rect">
            <a:avLst/>
          </a:prstGeom>
          <a:noFill/>
          <a:ln/>
        </p:spPr>
        <p:txBody>
          <a:bodyPr wrap="square"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Low</a:t>
            </a:r>
            <a:endParaRPr lang="en-US" sz="1050" dirty="0"/>
          </a:p>
        </p:txBody>
      </p:sp>
      <p:sp>
        <p:nvSpPr>
          <p:cNvPr id="45" name="Text 43"/>
          <p:cNvSpPr/>
          <p:nvPr/>
        </p:nvSpPr>
        <p:spPr>
          <a:xfrm>
            <a:off x="5166360" y="4480560"/>
            <a:ext cx="3611880" cy="576072"/>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Shared documentation and version-controlled code; both members understand all components; early communication with supervisor.</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B3E"/>
          </a:solidFill>
          <a:ln w="12700">
            <a:solidFill>
              <a:srgbClr val="0D1B3E"/>
            </a:solidFill>
            <a:prstDash val="solid"/>
          </a:ln>
        </p:spPr>
      </p:sp>
      <p:sp>
        <p:nvSpPr>
          <p:cNvPr id="3" name="Text 1"/>
          <p:cNvSpPr/>
          <p:nvPr/>
        </p:nvSpPr>
        <p:spPr>
          <a:xfrm>
            <a:off x="365760" y="0"/>
            <a:ext cx="8229600" cy="50292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REFERENCES</a:t>
            </a:r>
            <a:endParaRPr lang="en-US" sz="1300" dirty="0"/>
          </a:p>
        </p:txBody>
      </p:sp>
      <p:sp>
        <p:nvSpPr>
          <p:cNvPr id="4" name="Text 2"/>
          <p:cNvSpPr/>
          <p:nvPr/>
        </p:nvSpPr>
        <p:spPr>
          <a:xfrm>
            <a:off x="365760" y="566928"/>
            <a:ext cx="8412480" cy="347472"/>
          </a:xfrm>
          <a:prstGeom prst="rect">
            <a:avLst/>
          </a:prstGeom>
          <a:noFill/>
          <a:ln/>
        </p:spPr>
        <p:txBody>
          <a:bodyPr wrap="square" lIns="0" tIns="0" rIns="0" bIns="0"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IEEE referencing format — 7 scholarly sources</a:t>
            </a:r>
            <a:endParaRPr lang="en-US" sz="1100" dirty="0"/>
          </a:p>
        </p:txBody>
      </p:sp>
      <p:sp>
        <p:nvSpPr>
          <p:cNvPr id="5" name="Shape 3"/>
          <p:cNvSpPr/>
          <p:nvPr/>
        </p:nvSpPr>
        <p:spPr>
          <a:xfrm>
            <a:off x="365760" y="914400"/>
            <a:ext cx="8412480" cy="4114800"/>
          </a:xfrm>
          <a:prstGeom prst="rect">
            <a:avLst/>
          </a:prstGeom>
          <a:solidFill>
            <a:srgbClr val="FFFFFF"/>
          </a:solidFill>
          <a:ln w="12700">
            <a:solidFill>
              <a:srgbClr val="DBEAFE"/>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57200" y="1005840"/>
            <a:ext cx="64008" cy="475488"/>
          </a:xfrm>
          <a:prstGeom prst="rect">
            <a:avLst/>
          </a:prstGeom>
          <a:solidFill>
            <a:srgbClr val="3A86FF"/>
          </a:solidFill>
          <a:ln w="12700">
            <a:solidFill>
              <a:srgbClr val="3A86FF"/>
            </a:solidFill>
            <a:prstDash val="solid"/>
          </a:ln>
        </p:spPr>
      </p:sp>
      <p:sp>
        <p:nvSpPr>
          <p:cNvPr id="7" name="Text 5"/>
          <p:cNvSpPr/>
          <p:nvPr/>
        </p:nvSpPr>
        <p:spPr>
          <a:xfrm>
            <a:off x="658368" y="987552"/>
            <a:ext cx="7955280" cy="50292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[1]  B. K. Britton and A. Tesser, “Effects of time-management practices on college grades,” Journal of Educational Psychology, vol. 83, no. 3, pp. 405–410, 1991.</a:t>
            </a:r>
            <a:endParaRPr lang="en-US" sz="1050" dirty="0"/>
          </a:p>
        </p:txBody>
      </p:sp>
      <p:sp>
        <p:nvSpPr>
          <p:cNvPr id="8" name="Shape 6"/>
          <p:cNvSpPr/>
          <p:nvPr/>
        </p:nvSpPr>
        <p:spPr>
          <a:xfrm>
            <a:off x="457200" y="1563624"/>
            <a:ext cx="64008" cy="475488"/>
          </a:xfrm>
          <a:prstGeom prst="rect">
            <a:avLst/>
          </a:prstGeom>
          <a:solidFill>
            <a:srgbClr val="3A86FF"/>
          </a:solidFill>
          <a:ln w="12700">
            <a:solidFill>
              <a:srgbClr val="3A86FF"/>
            </a:solidFill>
            <a:prstDash val="solid"/>
          </a:ln>
        </p:spPr>
      </p:sp>
      <p:sp>
        <p:nvSpPr>
          <p:cNvPr id="9" name="Text 7"/>
          <p:cNvSpPr/>
          <p:nvPr/>
        </p:nvSpPr>
        <p:spPr>
          <a:xfrm>
            <a:off x="658368" y="1545336"/>
            <a:ext cx="7955280" cy="50292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[2]  D. W. Johnson and R. T. Johnson, “An educational psychology success story: Social interdependence theory and cooperative learning,” Educational Researcher, vol. 38, no. 5, pp. 365–379, 2009.</a:t>
            </a:r>
            <a:endParaRPr lang="en-US" sz="1050" dirty="0"/>
          </a:p>
        </p:txBody>
      </p:sp>
      <p:sp>
        <p:nvSpPr>
          <p:cNvPr id="10" name="Shape 8"/>
          <p:cNvSpPr/>
          <p:nvPr/>
        </p:nvSpPr>
        <p:spPr>
          <a:xfrm>
            <a:off x="457200" y="2121408"/>
            <a:ext cx="64008" cy="475488"/>
          </a:xfrm>
          <a:prstGeom prst="rect">
            <a:avLst/>
          </a:prstGeom>
          <a:solidFill>
            <a:srgbClr val="3A86FF"/>
          </a:solidFill>
          <a:ln w="12700">
            <a:solidFill>
              <a:srgbClr val="3A86FF"/>
            </a:solidFill>
            <a:prstDash val="solid"/>
          </a:ln>
        </p:spPr>
      </p:sp>
      <p:sp>
        <p:nvSpPr>
          <p:cNvPr id="11" name="Text 9"/>
          <p:cNvSpPr/>
          <p:nvPr/>
        </p:nvSpPr>
        <p:spPr>
          <a:xfrm>
            <a:off x="658368" y="2103120"/>
            <a:ext cx="7955280" cy="50292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[3]  C. Romero and S. Ventura, “Educational data mining and learning analytics: An updated survey,” Wiley Interdisciplinary Reviews: Data Mining and Knowledge Discovery, vol. 10, no. 3, 2020.</a:t>
            </a:r>
            <a:endParaRPr lang="en-US" sz="1050" dirty="0"/>
          </a:p>
        </p:txBody>
      </p:sp>
      <p:sp>
        <p:nvSpPr>
          <p:cNvPr id="12" name="Shape 10"/>
          <p:cNvSpPr/>
          <p:nvPr/>
        </p:nvSpPr>
        <p:spPr>
          <a:xfrm>
            <a:off x="457200" y="2679192"/>
            <a:ext cx="64008" cy="475488"/>
          </a:xfrm>
          <a:prstGeom prst="rect">
            <a:avLst/>
          </a:prstGeom>
          <a:solidFill>
            <a:srgbClr val="3A86FF"/>
          </a:solidFill>
          <a:ln w="12700">
            <a:solidFill>
              <a:srgbClr val="3A86FF"/>
            </a:solidFill>
            <a:prstDash val="solid"/>
          </a:ln>
        </p:spPr>
      </p:sp>
      <p:sp>
        <p:nvSpPr>
          <p:cNvPr id="13" name="Text 11"/>
          <p:cNvSpPr/>
          <p:nvPr/>
        </p:nvSpPr>
        <p:spPr>
          <a:xfrm>
            <a:off x="658368" y="2660904"/>
            <a:ext cx="7955280" cy="50292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[4]  P. Dillenbourg, “What do you mean by collaborative learning?” in Collaborative-learning: Cognitive and Computational Approaches, 1994.</a:t>
            </a:r>
            <a:endParaRPr lang="en-US" sz="1050" dirty="0"/>
          </a:p>
        </p:txBody>
      </p:sp>
      <p:sp>
        <p:nvSpPr>
          <p:cNvPr id="14" name="Shape 12"/>
          <p:cNvSpPr/>
          <p:nvPr/>
        </p:nvSpPr>
        <p:spPr>
          <a:xfrm>
            <a:off x="457200" y="3236976"/>
            <a:ext cx="64008" cy="475488"/>
          </a:xfrm>
          <a:prstGeom prst="rect">
            <a:avLst/>
          </a:prstGeom>
          <a:solidFill>
            <a:srgbClr val="3A86FF"/>
          </a:solidFill>
          <a:ln w="12700">
            <a:solidFill>
              <a:srgbClr val="3A86FF"/>
            </a:solidFill>
            <a:prstDash val="solid"/>
          </a:ln>
        </p:spPr>
      </p:sp>
      <p:sp>
        <p:nvSpPr>
          <p:cNvPr id="15" name="Text 13"/>
          <p:cNvSpPr/>
          <p:nvPr/>
        </p:nvSpPr>
        <p:spPr>
          <a:xfrm>
            <a:off x="658368" y="3218688"/>
            <a:ext cx="7955280" cy="50292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[5]  B. J. Zimmerman, “Becoming a self-regulated learner: An overview,” Theory Into Practice, vol. 41, no. 2, pp. 64–70, 2002.</a:t>
            </a:r>
            <a:endParaRPr lang="en-US" sz="1050" dirty="0"/>
          </a:p>
        </p:txBody>
      </p:sp>
      <p:sp>
        <p:nvSpPr>
          <p:cNvPr id="16" name="Shape 14"/>
          <p:cNvSpPr/>
          <p:nvPr/>
        </p:nvSpPr>
        <p:spPr>
          <a:xfrm>
            <a:off x="457200" y="3794760"/>
            <a:ext cx="64008" cy="475488"/>
          </a:xfrm>
          <a:prstGeom prst="rect">
            <a:avLst/>
          </a:prstGeom>
          <a:solidFill>
            <a:srgbClr val="3A86FF"/>
          </a:solidFill>
          <a:ln w="12700">
            <a:solidFill>
              <a:srgbClr val="3A86FF"/>
            </a:solidFill>
            <a:prstDash val="solid"/>
          </a:ln>
        </p:spPr>
      </p:sp>
      <p:sp>
        <p:nvSpPr>
          <p:cNvPr id="17" name="Text 15"/>
          <p:cNvSpPr/>
          <p:nvPr/>
        </p:nvSpPr>
        <p:spPr>
          <a:xfrm>
            <a:off x="658368" y="3776472"/>
            <a:ext cx="7955280" cy="50292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[6]  J. Sweller, “Cognitive load during problem solving: Effects on learning,” Cognitive Science, vol. 12, no. 2, pp. 257–285, 1988.</a:t>
            </a:r>
            <a:endParaRPr lang="en-US" sz="1050" dirty="0"/>
          </a:p>
        </p:txBody>
      </p:sp>
      <p:sp>
        <p:nvSpPr>
          <p:cNvPr id="18" name="Shape 16"/>
          <p:cNvSpPr/>
          <p:nvPr/>
        </p:nvSpPr>
        <p:spPr>
          <a:xfrm>
            <a:off x="457200" y="4352544"/>
            <a:ext cx="64008" cy="475488"/>
          </a:xfrm>
          <a:prstGeom prst="rect">
            <a:avLst/>
          </a:prstGeom>
          <a:solidFill>
            <a:srgbClr val="3A86FF"/>
          </a:solidFill>
          <a:ln w="12700">
            <a:solidFill>
              <a:srgbClr val="3A86FF"/>
            </a:solidFill>
            <a:prstDash val="solid"/>
          </a:ln>
        </p:spPr>
      </p:sp>
      <p:sp>
        <p:nvSpPr>
          <p:cNvPr id="19" name="Text 17"/>
          <p:cNvSpPr/>
          <p:nvPr/>
        </p:nvSpPr>
        <p:spPr>
          <a:xfrm>
            <a:off x="658368" y="4334256"/>
            <a:ext cx="7955280" cy="502920"/>
          </a:xfrm>
          <a:prstGeom prst="rect">
            <a:avLst/>
          </a:prstGeom>
          <a:noFill/>
          <a:ln/>
        </p:spPr>
        <p:txBody>
          <a:bodyPr wrap="square" rtlCol="0" anchor="ctr"/>
          <a:lstStyle/>
          <a:p>
            <a:pPr indent="0" marL="0">
              <a:buNone/>
            </a:pPr>
            <a:r>
              <a:rPr lang="en-US" sz="1050" dirty="0">
                <a:solidFill>
                  <a:srgbClr val="1A1A2E"/>
                </a:solidFill>
                <a:latin typeface="Calibri" pitchFamily="34" charset="0"/>
                <a:ea typeface="Calibri" pitchFamily="34" charset="-122"/>
                <a:cs typeface="Calibri" pitchFamily="34" charset="-120"/>
              </a:rPr>
              <a:t>[7]  I. Sommerville, Software Engineering, 10th ed. Harlow, UK: Pearson, 2016.</a:t>
            </a:r>
            <a:endParaRPr lang="en-US" sz="1050" dirty="0"/>
          </a:p>
        </p:txBody>
      </p:sp>
      <p:sp>
        <p:nvSpPr>
          <p:cNvPr id="20" name="Text 18"/>
          <p:cNvSpPr/>
          <p:nvPr/>
        </p:nvSpPr>
        <p:spPr>
          <a:xfrm>
            <a:off x="365760" y="4892040"/>
            <a:ext cx="8412480" cy="201168"/>
          </a:xfrm>
          <a:prstGeom prst="rect">
            <a:avLst/>
          </a:prstGeom>
          <a:noFill/>
          <a:ln/>
        </p:spPr>
        <p:txBody>
          <a:bodyPr wrap="square" rtlCol="0" anchor="ctr"/>
          <a:lstStyle/>
          <a:p>
            <a:pPr algn="ctr" indent="0" marL="0">
              <a:buNone/>
            </a:pPr>
            <a:r>
              <a:rPr lang="en-US" sz="1000" i="1" dirty="0">
                <a:solidFill>
                  <a:srgbClr val="4A5568"/>
                </a:solidFill>
                <a:latin typeface="Calibri" pitchFamily="34" charset="0"/>
                <a:ea typeface="Calibri" pitchFamily="34" charset="-122"/>
                <a:cs typeface="Calibri" pitchFamily="34" charset="-120"/>
              </a:rPr>
              <a:t>All references follow IEEE citation style. All sources are cited within the presentation body.</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4732020"/>
            <a:ext cx="9144000" cy="411480"/>
          </a:xfrm>
          <a:prstGeom prst="rect">
            <a:avLst/>
          </a:prstGeom>
          <a:solidFill>
            <a:srgbClr val="3A86FF"/>
          </a:solidFill>
          <a:ln w="12700">
            <a:solidFill>
              <a:srgbClr val="3A86FF"/>
            </a:solidFill>
            <a:prstDash val="solid"/>
          </a:ln>
        </p:spPr>
      </p:sp>
      <p:sp>
        <p:nvSpPr>
          <p:cNvPr id="3" name="Shape 1"/>
          <p:cNvSpPr/>
          <p:nvPr/>
        </p:nvSpPr>
        <p:spPr>
          <a:xfrm>
            <a:off x="0" y="0"/>
            <a:ext cx="164592" cy="5143500"/>
          </a:xfrm>
          <a:prstGeom prst="rect">
            <a:avLst/>
          </a:prstGeom>
          <a:solidFill>
            <a:srgbClr val="3A86FF"/>
          </a:solidFill>
          <a:ln w="12700">
            <a:solidFill>
              <a:srgbClr val="3A86FF"/>
            </a:solidFill>
            <a:prstDash val="solid"/>
          </a:ln>
        </p:spPr>
      </p:sp>
      <p:sp>
        <p:nvSpPr>
          <p:cNvPr id="4" name="Text 2"/>
          <p:cNvSpPr/>
          <p:nvPr/>
        </p:nvSpPr>
        <p:spPr>
          <a:xfrm>
            <a:off x="457200" y="274320"/>
            <a:ext cx="8229600" cy="411480"/>
          </a:xfrm>
          <a:prstGeom prst="rect">
            <a:avLst/>
          </a:prstGeom>
          <a:noFill/>
          <a:ln/>
        </p:spPr>
        <p:txBody>
          <a:bodyPr wrap="square" rtlCol="0" anchor="ctr"/>
          <a:lstStyle/>
          <a:p>
            <a:pPr indent="0" marL="0">
              <a:buNone/>
            </a:pPr>
            <a:r>
              <a:rPr lang="en-US" sz="1200" b="1" spc="400" kern="0" dirty="0">
                <a:solidFill>
                  <a:srgbClr val="CADCFC"/>
                </a:solidFill>
                <a:latin typeface="Calibri" pitchFamily="34" charset="0"/>
                <a:ea typeface="Calibri" pitchFamily="34" charset="-122"/>
                <a:cs typeface="Calibri" pitchFamily="34" charset="-120"/>
              </a:rPr>
              <a:t>CONCLUSION</a:t>
            </a:r>
            <a:endParaRPr lang="en-US" sz="1200" dirty="0"/>
          </a:p>
        </p:txBody>
      </p:sp>
      <p:sp>
        <p:nvSpPr>
          <p:cNvPr id="5" name="Text 3"/>
          <p:cNvSpPr/>
          <p:nvPr/>
        </p:nvSpPr>
        <p:spPr>
          <a:xfrm>
            <a:off x="457200" y="868680"/>
            <a:ext cx="8229600" cy="41148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StudyPlannerApp addresses a real, well-defined problem:</a:t>
            </a:r>
            <a:endParaRPr lang="en-US" sz="1600" dirty="0"/>
          </a:p>
        </p:txBody>
      </p:sp>
      <p:sp>
        <p:nvSpPr>
          <p:cNvPr id="6" name="Shape 4"/>
          <p:cNvSpPr/>
          <p:nvPr/>
        </p:nvSpPr>
        <p:spPr>
          <a:xfrm>
            <a:off x="457200" y="1417320"/>
            <a:ext cx="8046720" cy="594360"/>
          </a:xfrm>
          <a:prstGeom prst="rect">
            <a:avLst/>
          </a:prstGeom>
          <a:solidFill>
            <a:srgbClr val="142050"/>
          </a:solidFill>
          <a:ln w="12700">
            <a:solidFill>
              <a:srgbClr val="2A3F7A"/>
            </a:solidFill>
            <a:prstDash val="solid"/>
          </a:ln>
        </p:spPr>
      </p:sp>
      <p:sp>
        <p:nvSpPr>
          <p:cNvPr id="7" name="Text 5"/>
          <p:cNvSpPr/>
          <p:nvPr/>
        </p:nvSpPr>
        <p:spPr>
          <a:xfrm>
            <a:off x="640080" y="1435608"/>
            <a:ext cx="7772400" cy="57607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  Students lack tools combining personal study planning with intelligent, AI-driven peer matching.</a:t>
            </a:r>
            <a:endParaRPr lang="en-US" sz="1250" dirty="0"/>
          </a:p>
        </p:txBody>
      </p:sp>
      <p:sp>
        <p:nvSpPr>
          <p:cNvPr id="8" name="Shape 6"/>
          <p:cNvSpPr/>
          <p:nvPr/>
        </p:nvSpPr>
        <p:spPr>
          <a:xfrm>
            <a:off x="457200" y="2121408"/>
            <a:ext cx="8046720" cy="594360"/>
          </a:xfrm>
          <a:prstGeom prst="rect">
            <a:avLst/>
          </a:prstGeom>
          <a:solidFill>
            <a:srgbClr val="142050"/>
          </a:solidFill>
          <a:ln w="12700">
            <a:solidFill>
              <a:srgbClr val="2A3F7A"/>
            </a:solidFill>
            <a:prstDash val="solid"/>
          </a:ln>
        </p:spPr>
      </p:sp>
      <p:sp>
        <p:nvSpPr>
          <p:cNvPr id="9" name="Text 7"/>
          <p:cNvSpPr/>
          <p:nvPr/>
        </p:nvSpPr>
        <p:spPr>
          <a:xfrm>
            <a:off x="640080" y="2139696"/>
            <a:ext cx="7772400" cy="57607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  The AI engine applies ML-based algorithms to pair students on complementary strengths/weaknesses — not chance [4].</a:t>
            </a:r>
            <a:endParaRPr lang="en-US" sz="1250" dirty="0"/>
          </a:p>
        </p:txBody>
      </p:sp>
      <p:sp>
        <p:nvSpPr>
          <p:cNvPr id="10" name="Shape 8"/>
          <p:cNvSpPr/>
          <p:nvPr/>
        </p:nvSpPr>
        <p:spPr>
          <a:xfrm>
            <a:off x="457200" y="2825496"/>
            <a:ext cx="8046720" cy="594360"/>
          </a:xfrm>
          <a:prstGeom prst="rect">
            <a:avLst/>
          </a:prstGeom>
          <a:solidFill>
            <a:srgbClr val="142050"/>
          </a:solidFill>
          <a:ln w="12700">
            <a:solidFill>
              <a:srgbClr val="2A3F7A"/>
            </a:solidFill>
            <a:prstDash val="solid"/>
          </a:ln>
        </p:spPr>
      </p:sp>
      <p:sp>
        <p:nvSpPr>
          <p:cNvPr id="11" name="Text 9"/>
          <p:cNvSpPr/>
          <p:nvPr/>
        </p:nvSpPr>
        <p:spPr>
          <a:xfrm>
            <a:off x="640080" y="2843784"/>
            <a:ext cx="7772400" cy="57607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  Success is measurable: ≥75% match relevance, ≥85% task completion, validated with ≥20 real student users.</a:t>
            </a:r>
            <a:endParaRPr lang="en-US" sz="1250" dirty="0"/>
          </a:p>
        </p:txBody>
      </p:sp>
      <p:sp>
        <p:nvSpPr>
          <p:cNvPr id="12" name="Shape 10"/>
          <p:cNvSpPr/>
          <p:nvPr/>
        </p:nvSpPr>
        <p:spPr>
          <a:xfrm>
            <a:off x="457200" y="3529584"/>
            <a:ext cx="8046720" cy="594360"/>
          </a:xfrm>
          <a:prstGeom prst="rect">
            <a:avLst/>
          </a:prstGeom>
          <a:solidFill>
            <a:srgbClr val="142050"/>
          </a:solidFill>
          <a:ln w="12700">
            <a:solidFill>
              <a:srgbClr val="2A3F7A"/>
            </a:solidFill>
            <a:prstDash val="solid"/>
          </a:ln>
        </p:spPr>
      </p:sp>
      <p:sp>
        <p:nvSpPr>
          <p:cNvPr id="13" name="Text 11"/>
          <p:cNvSpPr/>
          <p:nvPr/>
        </p:nvSpPr>
        <p:spPr>
          <a:xfrm>
            <a:off x="640080" y="3547872"/>
            <a:ext cx="7772400" cy="57607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  Deliverables: a functional web app, AI model, evaluation report, and full technical documentation.</a:t>
            </a:r>
            <a:endParaRPr lang="en-US" sz="1250" dirty="0"/>
          </a:p>
        </p:txBody>
      </p:sp>
      <p:sp>
        <p:nvSpPr>
          <p:cNvPr id="14" name="Text 12"/>
          <p:cNvSpPr/>
          <p:nvPr/>
        </p:nvSpPr>
        <p:spPr>
          <a:xfrm>
            <a:off x="457200" y="4343400"/>
            <a:ext cx="8229600" cy="320040"/>
          </a:xfrm>
          <a:prstGeom prst="rect">
            <a:avLst/>
          </a:prstGeom>
          <a:noFill/>
          <a:ln/>
        </p:spPr>
        <p:txBody>
          <a:bodyPr wrap="square" rtlCol="0" anchor="ctr"/>
          <a:lstStyle/>
          <a:p>
            <a:pPr algn="ctr" indent="0" marL="0">
              <a:buNone/>
            </a:pPr>
            <a:r>
              <a:rPr lang="en-US" sz="1200" i="1" dirty="0">
                <a:solidFill>
                  <a:srgbClr val="CADCFC"/>
                </a:solidFill>
                <a:latin typeface="Calibri" pitchFamily="34" charset="0"/>
                <a:ea typeface="Calibri" pitchFamily="34" charset="-122"/>
                <a:cs typeface="Calibri" pitchFamily="34" charset="-120"/>
              </a:rPr>
              <a:t>We are confident this project is achievable, impactful, and well within the defined scope.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StudyPlannerApp Final Year Project</dc:title>
  <dc:subject>PptxGenJS Presentation</dc:subject>
  <dc:creator>PptxGenJS</dc:creator>
  <cp:lastModifiedBy>PptxGenJS</cp:lastModifiedBy>
  <cp:revision>1</cp:revision>
  <dcterms:created xsi:type="dcterms:W3CDTF">2026-03-29T20:37:59Z</dcterms:created>
  <dcterms:modified xsi:type="dcterms:W3CDTF">2026-03-29T20:37:59Z</dcterms:modified>
</cp:coreProperties>
</file>